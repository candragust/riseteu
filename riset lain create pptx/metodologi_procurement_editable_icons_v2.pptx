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103120" y="5532120"/>
            <a:ext cx="4846320" cy="1389888"/>
          </a:xfrm>
          <a:prstGeom prst="ellipse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83080" y="5715000"/>
            <a:ext cx="4343400" cy="1078992"/>
          </a:xfrm>
          <a:prstGeom prst="ellipse">
            <a:avLst/>
          </a:prstGeom>
          <a:solidFill>
            <a:srgbClr val="E7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28431" y="5230368"/>
            <a:ext cx="4846320" cy="1737360"/>
          </a:xfrm>
          <a:prstGeom prst="ellipse">
            <a:avLst/>
          </a:prstGeom>
          <a:solidFill>
            <a:srgbClr val="F0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39327" y="5559552"/>
            <a:ext cx="4526280" cy="1389888"/>
          </a:xfrm>
          <a:prstGeom prst="ellipse">
            <a:avLst/>
          </a:prstGeom>
          <a:solidFill>
            <a:srgbClr val="E7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56616" y="228600"/>
            <a:ext cx="0" cy="886968"/>
          </a:xfrm>
          <a:prstGeom prst="line">
            <a:avLst/>
          </a:prstGeom>
          <a:ln w="50800">
            <a:solidFill>
              <a:srgbClr val="0B4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67512" y="283464"/>
            <a:ext cx="8138160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3100" b="1">
                <a:solidFill>
                  <a:srgbClr val="0D1B4C"/>
                </a:solidFill>
                <a:latin typeface="Aptos Display"/>
              </a:rPr>
              <a:t>Ringkasan Hubungan Konseptual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923544"/>
            <a:ext cx="841248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50" b="0">
                <a:solidFill>
                  <a:srgbClr val="424A65"/>
                </a:solidFill>
                <a:latin typeface="Aptos"/>
              </a:rPr>
              <a:t>Alur kausal digitalisasi e-procurement terhadap implementasi dan kinerja procurement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389888"/>
            <a:ext cx="1847088" cy="2313432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3970">
            <a:solidFill>
              <a:srgbClr val="0B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" name="Icon Drivers - Building"/>
          <p:cNvGrpSpPr/>
          <p:nvPr/>
        </p:nvGrpSpPr>
        <p:grpSpPr>
          <a:xfrm>
            <a:off x="1088136" y="1481328"/>
            <a:ext cx="548640" cy="548640"/>
            <a:chOff x="1088136" y="1481328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088136" y="1481328"/>
              <a:ext cx="548640" cy="548640"/>
            </a:xfrm>
            <a:prstGeom prst="ellipse">
              <a:avLst/>
            </a:prstGeom>
            <a:solidFill>
              <a:srgbClr val="0B4E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1208836" y="1618488"/>
              <a:ext cx="307238" cy="98755"/>
            </a:xfrm>
            <a:prstGeom prst="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30782" y="1711756"/>
              <a:ext cx="263347" cy="329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55471" y="1750161"/>
              <a:ext cx="38404" cy="120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343253" y="1750161"/>
              <a:ext cx="38404" cy="120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431036" y="1750161"/>
              <a:ext cx="38404" cy="120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214323" y="1881835"/>
              <a:ext cx="296265" cy="384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21792" y="2194560"/>
            <a:ext cx="1481328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30" b="1">
                <a:solidFill>
                  <a:srgbClr val="0B4E8A"/>
                </a:solidFill>
                <a:latin typeface="Aptos"/>
              </a:rPr>
              <a:t>1. Drivers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2688" y="2615184"/>
            <a:ext cx="859536" cy="0"/>
          </a:xfrm>
          <a:prstGeom prst="line">
            <a:avLst/>
          </a:prstGeom>
          <a:ln w="15240">
            <a:solidFill>
              <a:srgbClr val="0B4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2807208"/>
            <a:ext cx="1444752" cy="7772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Faktor pendorong utama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mendorong organisasi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mengadopsi e-procurement.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1389888"/>
            <a:ext cx="1847088" cy="2313432"/>
          </a:xfrm>
          <a:prstGeom prst="roundRect">
            <a:avLst>
              <a:gd name="adj" fmla="val 8000"/>
            </a:avLst>
          </a:prstGeom>
          <a:solidFill>
            <a:srgbClr val="F5FBF0"/>
          </a:solidFill>
          <a:ln w="1397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8" name="Icon Digitalisasi - Globe"/>
          <p:cNvGrpSpPr/>
          <p:nvPr/>
        </p:nvGrpSpPr>
        <p:grpSpPr>
          <a:xfrm>
            <a:off x="3392424" y="1481328"/>
            <a:ext cx="548640" cy="548640"/>
            <a:chOff x="3392424" y="1481328"/>
            <a:chExt cx="548640" cy="548640"/>
          </a:xfrm>
        </p:grpSpPr>
        <p:sp>
          <p:nvSpPr>
            <p:cNvPr id="22" name="Oval 21"/>
            <p:cNvSpPr/>
            <p:nvPr/>
          </p:nvSpPr>
          <p:spPr>
            <a:xfrm>
              <a:off x="3392424" y="1481328"/>
              <a:ext cx="548640" cy="548640"/>
            </a:xfrm>
            <a:prstGeom prst="ellipse">
              <a:avLst/>
            </a:prstGeom>
            <a:solidFill>
              <a:srgbClr val="2E7D3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3496665" y="1585569"/>
              <a:ext cx="340156" cy="340156"/>
            </a:xfrm>
            <a:prstGeom prst="ellipse">
              <a:avLst/>
            </a:prstGeom>
            <a:noFill/>
            <a:ln w="254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3598163" y="1585569"/>
              <a:ext cx="137160" cy="340156"/>
            </a:xfrm>
            <a:prstGeom prst="ellipse">
              <a:avLst/>
            </a:prstGeom>
            <a:noFill/>
            <a:ln w="2032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3502151" y="1755648"/>
              <a:ext cx="329184" cy="0"/>
            </a:xfrm>
            <a:prstGeom prst="line">
              <a:avLst/>
            </a:prstGeom>
            <a:ln w="1905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3529584" y="1678838"/>
              <a:ext cx="274320" cy="0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3529584" y="1832457"/>
              <a:ext cx="274320" cy="0"/>
            </a:xfrm>
            <a:prstGeom prst="line">
              <a:avLst/>
            </a:prstGeom>
            <a:ln w="1524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2926080" y="2194560"/>
            <a:ext cx="1481328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30" b="1">
                <a:solidFill>
                  <a:srgbClr val="2E7D32"/>
                </a:solidFill>
                <a:latin typeface="Aptos"/>
              </a:rPr>
              <a:t>2. Digitalisasi</a:t>
            </a:r>
          </a:p>
          <a:p>
            <a:pPr algn="ctr"/>
            <a:r>
              <a:rPr sz="1330" b="1">
                <a:solidFill>
                  <a:srgbClr val="2E7D32"/>
                </a:solidFill>
                <a:latin typeface="Aptos"/>
              </a:rPr>
              <a:t>e-Procurement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36976" y="2615184"/>
            <a:ext cx="859535" cy="0"/>
          </a:xfrm>
          <a:prstGeom prst="line">
            <a:avLst/>
          </a:prstGeom>
          <a:ln w="1524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944368" y="2807208"/>
            <a:ext cx="1444752" cy="7772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Sistem dan teknologi digital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mengubah cara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procurement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diimplementasikan.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02352" y="1389888"/>
            <a:ext cx="1847088" cy="2313432"/>
          </a:xfrm>
          <a:prstGeom prst="roundRect">
            <a:avLst>
              <a:gd name="adj" fmla="val 8000"/>
            </a:avLst>
          </a:prstGeom>
          <a:solidFill>
            <a:srgbClr val="FAF7FF"/>
          </a:solidFill>
          <a:ln w="1397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7" name="Icon Implementasi - Clock"/>
          <p:cNvGrpSpPr/>
          <p:nvPr/>
        </p:nvGrpSpPr>
        <p:grpSpPr>
          <a:xfrm>
            <a:off x="5751576" y="1481328"/>
            <a:ext cx="548640" cy="548640"/>
            <a:chOff x="5751576" y="1481328"/>
            <a:chExt cx="548640" cy="548640"/>
          </a:xfrm>
        </p:grpSpPr>
        <p:sp>
          <p:nvSpPr>
            <p:cNvPr id="33" name="Oval 32"/>
            <p:cNvSpPr/>
            <p:nvPr/>
          </p:nvSpPr>
          <p:spPr>
            <a:xfrm>
              <a:off x="5751576" y="1481328"/>
              <a:ext cx="548640" cy="548640"/>
            </a:xfrm>
            <a:prstGeom prst="ellipse">
              <a:avLst/>
            </a:prstGeom>
            <a:solidFill>
              <a:srgbClr val="5E35B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872276" y="1602028"/>
              <a:ext cx="307238" cy="307238"/>
            </a:xfrm>
            <a:prstGeom prst="ellipse">
              <a:avLst/>
            </a:prstGeom>
            <a:noFill/>
            <a:ln w="3048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Connector 34"/>
            <p:cNvCxnSpPr/>
            <p:nvPr/>
          </p:nvCxnSpPr>
          <p:spPr>
            <a:xfrm flipV="1">
              <a:off x="6025896" y="1656892"/>
              <a:ext cx="0" cy="98756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>
              <a:off x="6025896" y="1755648"/>
              <a:ext cx="87782" cy="60350"/>
            </a:xfrm>
            <a:prstGeom prst="line">
              <a:avLst/>
            </a:prstGeom>
            <a:ln w="254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5285232" y="2194560"/>
            <a:ext cx="1481328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30" b="1">
                <a:solidFill>
                  <a:srgbClr val="5E35B1"/>
                </a:solidFill>
                <a:latin typeface="Aptos"/>
              </a:rPr>
              <a:t>3. Implementasi</a:t>
            </a:r>
          </a:p>
          <a:p>
            <a:pPr algn="ctr"/>
            <a:r>
              <a:rPr sz="1330" b="1">
                <a:solidFill>
                  <a:srgbClr val="5E35B1"/>
                </a:solidFill>
                <a:latin typeface="Aptos"/>
              </a:rPr>
              <a:t>e-Procurement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96128" y="2615184"/>
            <a:ext cx="859536" cy="0"/>
          </a:xfrm>
          <a:prstGeom prst="line">
            <a:avLst/>
          </a:prstGeom>
          <a:ln w="15240">
            <a:solidFill>
              <a:srgbClr val="5E3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03520" y="2807208"/>
            <a:ext cx="1444752" cy="7772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Implementasi yang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lebih baik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memperbaiki proses.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61504" y="1389888"/>
            <a:ext cx="1847088" cy="2313432"/>
          </a:xfrm>
          <a:prstGeom prst="roundRect">
            <a:avLst>
              <a:gd name="adj" fmla="val 8000"/>
            </a:avLst>
          </a:prstGeom>
          <a:solidFill>
            <a:srgbClr val="FFF8EF"/>
          </a:solidFill>
          <a:ln w="1397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7" name="Icon Kinerja - Chart"/>
          <p:cNvGrpSpPr/>
          <p:nvPr/>
        </p:nvGrpSpPr>
        <p:grpSpPr>
          <a:xfrm>
            <a:off x="8110727" y="1481328"/>
            <a:ext cx="548640" cy="548640"/>
            <a:chOff x="8110727" y="1481328"/>
            <a:chExt cx="548640" cy="548640"/>
          </a:xfrm>
        </p:grpSpPr>
        <p:sp>
          <p:nvSpPr>
            <p:cNvPr id="42" name="Oval 41"/>
            <p:cNvSpPr/>
            <p:nvPr/>
          </p:nvSpPr>
          <p:spPr>
            <a:xfrm>
              <a:off x="8110727" y="1481328"/>
              <a:ext cx="548640" cy="548640"/>
            </a:xfrm>
            <a:prstGeom prst="ellipse">
              <a:avLst/>
            </a:prstGeom>
            <a:solidFill>
              <a:srgbClr val="EF6C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256117" y="1794052"/>
              <a:ext cx="49377" cy="987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360359" y="1744675"/>
              <a:ext cx="49377" cy="1481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464600" y="1678838"/>
              <a:ext cx="49377" cy="2139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ight Arrow 45"/>
            <p:cNvSpPr/>
            <p:nvPr/>
          </p:nvSpPr>
          <p:spPr>
            <a:xfrm rot="19200000">
              <a:off x="8280806" y="1602028"/>
              <a:ext cx="290779" cy="71323"/>
            </a:xfrm>
            <a:prstGeom prst="rightArrow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644383" y="2194560"/>
            <a:ext cx="1481328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30" b="1">
                <a:solidFill>
                  <a:srgbClr val="EF6C00"/>
                </a:solidFill>
                <a:latin typeface="Aptos"/>
              </a:rPr>
              <a:t>4. Kinerja</a:t>
            </a:r>
          </a:p>
          <a:p>
            <a:pPr algn="ctr"/>
            <a:r>
              <a:rPr sz="1330" b="1">
                <a:solidFill>
                  <a:srgbClr val="EF6C00"/>
                </a:solidFill>
                <a:latin typeface="Aptos"/>
              </a:rPr>
              <a:t>Procurement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55279" y="2615184"/>
            <a:ext cx="859537" cy="0"/>
          </a:xfrm>
          <a:prstGeom prst="line">
            <a:avLst/>
          </a:prstGeom>
          <a:ln w="15240">
            <a:solidFill>
              <a:srgbClr val="EF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662672" y="2807208"/>
            <a:ext cx="1444752" cy="777239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Perbaikan proses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menghasilkan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peningkatan kinerja</a:t>
            </a:r>
          </a:p>
          <a:p>
            <a:pPr algn="ctr">
              <a:lnSpc>
                <a:spcPct val="92000"/>
              </a:lnSpc>
            </a:pPr>
            <a:r>
              <a:rPr sz="980" b="0">
                <a:solidFill>
                  <a:srgbClr val="1E253D"/>
                </a:solidFill>
                <a:latin typeface="Aptos"/>
              </a:rPr>
              <a:t>procurement.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2377440" y="2313432"/>
            <a:ext cx="310896" cy="228600"/>
          </a:xfrm>
          <a:prstGeom prst="rightArrow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ight Arrow 51"/>
          <p:cNvSpPr/>
          <p:nvPr/>
        </p:nvSpPr>
        <p:spPr>
          <a:xfrm>
            <a:off x="4736592" y="2313432"/>
            <a:ext cx="310896" cy="228600"/>
          </a:xfrm>
          <a:prstGeom prst="rightArrow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7086600" y="2313432"/>
            <a:ext cx="310896" cy="228600"/>
          </a:xfrm>
          <a:prstGeom prst="rightArrow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38912" y="4069080"/>
            <a:ext cx="8796528" cy="822960"/>
          </a:xfrm>
          <a:prstGeom prst="roundRect">
            <a:avLst>
              <a:gd name="adj" fmla="val 7000"/>
            </a:avLst>
          </a:prstGeom>
          <a:solidFill>
            <a:srgbClr val="FBFCFE"/>
          </a:solidFill>
          <a:ln w="12700">
            <a:solidFill>
              <a:srgbClr val="0B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V="1">
            <a:off x="1362456" y="3721607"/>
            <a:ext cx="0" cy="347473"/>
          </a:xfrm>
          <a:prstGeom prst="line">
            <a:avLst/>
          </a:prstGeom>
          <a:ln w="13970">
            <a:solidFill>
              <a:srgbClr val="0B4E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1303020" y="3721607"/>
            <a:ext cx="118872" cy="96012"/>
          </a:xfrm>
          <a:prstGeom prst="triangl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3666744" y="3721607"/>
            <a:ext cx="0" cy="347473"/>
          </a:xfrm>
          <a:prstGeom prst="line">
            <a:avLst/>
          </a:prstGeom>
          <a:ln w="13970">
            <a:solidFill>
              <a:srgbClr val="0B4E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>
            <a:off x="3607308" y="3721607"/>
            <a:ext cx="118872" cy="96012"/>
          </a:xfrm>
          <a:prstGeom prst="triangl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6025896" y="3721607"/>
            <a:ext cx="0" cy="347473"/>
          </a:xfrm>
          <a:prstGeom prst="line">
            <a:avLst/>
          </a:prstGeom>
          <a:ln w="13970">
            <a:solidFill>
              <a:srgbClr val="0B4E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>
            <a:off x="5966459" y="3721607"/>
            <a:ext cx="118872" cy="96012"/>
          </a:xfrm>
          <a:prstGeom prst="triangl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8385048" y="3721607"/>
            <a:ext cx="0" cy="347473"/>
          </a:xfrm>
          <a:prstGeom prst="line">
            <a:avLst/>
          </a:prstGeom>
          <a:ln w="13970">
            <a:solidFill>
              <a:srgbClr val="0B4E8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>
            <a:off x="8325612" y="3721607"/>
            <a:ext cx="118872" cy="96012"/>
          </a:xfrm>
          <a:prstGeom prst="triangl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0" name="Icon Enablers - People"/>
          <p:cNvGrpSpPr/>
          <p:nvPr/>
        </p:nvGrpSpPr>
        <p:grpSpPr>
          <a:xfrm>
            <a:off x="1088136" y="4197096"/>
            <a:ext cx="566928" cy="566928"/>
            <a:chOff x="1088136" y="4197096"/>
            <a:chExt cx="566928" cy="566928"/>
          </a:xfrm>
        </p:grpSpPr>
        <p:sp>
          <p:nvSpPr>
            <p:cNvPr id="63" name="Oval 62"/>
            <p:cNvSpPr/>
            <p:nvPr/>
          </p:nvSpPr>
          <p:spPr>
            <a:xfrm>
              <a:off x="1088136" y="4197096"/>
              <a:ext cx="566928" cy="566928"/>
            </a:xfrm>
            <a:prstGeom prst="ellipse">
              <a:avLst/>
            </a:prstGeom>
            <a:solidFill>
              <a:srgbClr val="0B4E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Oval 63"/>
            <p:cNvSpPr/>
            <p:nvPr/>
          </p:nvSpPr>
          <p:spPr>
            <a:xfrm>
              <a:off x="1207190" y="4378512"/>
              <a:ext cx="124724" cy="1247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Oval 64"/>
            <p:cNvSpPr/>
            <p:nvPr/>
          </p:nvSpPr>
          <p:spPr>
            <a:xfrm>
              <a:off x="1411284" y="4378512"/>
              <a:ext cx="124724" cy="1247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Oval 65"/>
            <p:cNvSpPr/>
            <p:nvPr/>
          </p:nvSpPr>
          <p:spPr>
            <a:xfrm>
              <a:off x="1297899" y="4321820"/>
              <a:ext cx="147401" cy="1474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1190183" y="4514575"/>
              <a:ext cx="158739" cy="1247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Oval 67"/>
            <p:cNvSpPr/>
            <p:nvPr/>
          </p:nvSpPr>
          <p:spPr>
            <a:xfrm>
              <a:off x="1394277" y="4514575"/>
              <a:ext cx="158739" cy="1247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Oval 68"/>
            <p:cNvSpPr/>
            <p:nvPr/>
          </p:nvSpPr>
          <p:spPr>
            <a:xfrm>
              <a:off x="1275222" y="4497567"/>
              <a:ext cx="192755" cy="14740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1810512" y="4197096"/>
            <a:ext cx="278892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20" b="1">
                <a:solidFill>
                  <a:srgbClr val="0B4E8A"/>
                </a:solidFill>
                <a:latin typeface="Aptos"/>
              </a:rPr>
              <a:t>5. Enablers Keberhasilan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10512" y="4462272"/>
            <a:ext cx="7223759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969" b="0">
                <a:solidFill>
                  <a:srgbClr val="1E253D"/>
                </a:solidFill>
                <a:latin typeface="Aptos"/>
              </a:rPr>
              <a:t>Dukungan manajemen puncak, kompetensi SDM &amp; manajemen perubahan, proses bisnis &amp; tata kelola yang baik,</a:t>
            </a:r>
          </a:p>
          <a:p>
            <a:pPr algn="l">
              <a:lnSpc>
                <a:spcPct val="90000"/>
              </a:lnSpc>
            </a:pPr>
            <a:r>
              <a:rPr sz="969" b="0">
                <a:solidFill>
                  <a:srgbClr val="1E253D"/>
                </a:solidFill>
                <a:latin typeface="Aptos"/>
              </a:rPr>
              <a:t>integrasi sistem &amp; infrastruktur TI, serta keamanan, kepercayaan &amp; manajemen risiko.</a:t>
            </a:r>
          </a:p>
        </p:txBody>
      </p:sp>
      <p:sp>
        <p:nvSpPr>
          <p:cNvPr id="73" name="Chevron 72"/>
          <p:cNvSpPr/>
          <p:nvPr/>
        </p:nvSpPr>
        <p:spPr>
          <a:xfrm>
            <a:off x="9400032" y="2322576"/>
            <a:ext cx="347472" cy="1609344"/>
          </a:xfrm>
          <a:prstGeom prst="chevron">
            <a:avLst/>
          </a:prstGeom>
          <a:solidFill>
            <a:srgbClr val="E7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738360" y="1810512"/>
            <a:ext cx="2148840" cy="3054096"/>
          </a:xfrm>
          <a:prstGeom prst="roundRect">
            <a:avLst>
              <a:gd name="adj" fmla="val 8000"/>
            </a:avLst>
          </a:prstGeom>
          <a:solidFill>
            <a:srgbClr val="FBFCFE"/>
          </a:solidFill>
          <a:ln w="13970">
            <a:solidFill>
              <a:srgbClr val="0B4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0" name="Icon Kesimpulan - Target"/>
          <p:cNvGrpSpPr/>
          <p:nvPr/>
        </p:nvGrpSpPr>
        <p:grpSpPr>
          <a:xfrm>
            <a:off x="10447020" y="1975104"/>
            <a:ext cx="731520" cy="731520"/>
            <a:chOff x="10447020" y="1975104"/>
            <a:chExt cx="731520" cy="731520"/>
          </a:xfrm>
        </p:grpSpPr>
        <p:sp>
          <p:nvSpPr>
            <p:cNvPr id="75" name="Oval 74"/>
            <p:cNvSpPr/>
            <p:nvPr/>
          </p:nvSpPr>
          <p:spPr>
            <a:xfrm>
              <a:off x="10447020" y="1975104"/>
              <a:ext cx="731520" cy="731520"/>
            </a:xfrm>
            <a:prstGeom prst="ellipse">
              <a:avLst/>
            </a:prstGeom>
            <a:solidFill>
              <a:srgbClr val="0B4E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Oval 75"/>
            <p:cNvSpPr/>
            <p:nvPr/>
          </p:nvSpPr>
          <p:spPr>
            <a:xfrm>
              <a:off x="10571378" y="2099462"/>
              <a:ext cx="482803" cy="482803"/>
            </a:xfrm>
            <a:prstGeom prst="ellipse">
              <a:avLst/>
            </a:prstGeom>
            <a:noFill/>
            <a:ln w="3429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Oval 76"/>
            <p:cNvSpPr/>
            <p:nvPr/>
          </p:nvSpPr>
          <p:spPr>
            <a:xfrm>
              <a:off x="10651845" y="2179929"/>
              <a:ext cx="321868" cy="321868"/>
            </a:xfrm>
            <a:prstGeom prst="ellipse">
              <a:avLst/>
            </a:prstGeom>
            <a:noFill/>
            <a:ln w="2794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Oval 77"/>
            <p:cNvSpPr/>
            <p:nvPr/>
          </p:nvSpPr>
          <p:spPr>
            <a:xfrm>
              <a:off x="10732312" y="2260396"/>
              <a:ext cx="160934" cy="160934"/>
            </a:xfrm>
            <a:prstGeom prst="ellipse">
              <a:avLst/>
            </a:prstGeom>
            <a:noFill/>
            <a:ln w="2286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Right Arrow 78"/>
            <p:cNvSpPr/>
            <p:nvPr/>
          </p:nvSpPr>
          <p:spPr>
            <a:xfrm rot="19200000">
              <a:off x="10798149" y="2092147"/>
              <a:ext cx="336499" cy="87782"/>
            </a:xfrm>
            <a:prstGeom prst="rightArrow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9939528" y="2862072"/>
            <a:ext cx="1746504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360" b="1">
                <a:solidFill>
                  <a:srgbClr val="0B4E8A"/>
                </a:solidFill>
                <a:latin typeface="Aptos"/>
              </a:rPr>
              <a:t>Kesimpulan: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049256" y="3054096"/>
            <a:ext cx="1527048" cy="0"/>
          </a:xfrm>
          <a:prstGeom prst="line">
            <a:avLst/>
          </a:prstGeom>
          <a:ln w="13970">
            <a:solidFill>
              <a:srgbClr val="0B4E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948672" y="3273552"/>
            <a:ext cx="1728216" cy="12984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digitalisasi e-procurement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berfungsi sebagai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enabler strategis yang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memperkuat implementasi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dan meningkatkan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kinerja procurement</a:t>
            </a:r>
          </a:p>
          <a:p>
            <a:pPr algn="ctr">
              <a:lnSpc>
                <a:spcPct val="88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secara berkelanjutan.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29768" y="5074920"/>
            <a:ext cx="2084831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30352" y="5312664"/>
            <a:ext cx="347472" cy="347472"/>
          </a:xfrm>
          <a:prstGeom prst="ellipse">
            <a:avLst/>
          </a:prstGeom>
          <a:solidFill>
            <a:srgbClr val="0B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5840" y="5276088"/>
            <a:ext cx="1371599" cy="7955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Drivers mendorong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organisasi mengadopsi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e-procurement.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651760" y="5074920"/>
            <a:ext cx="217627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2752344" y="5312664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27832" y="5276088"/>
            <a:ext cx="1463039" cy="7955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Sistem dan teknologi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digital mengubah cara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procurement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diimplementasikan.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965192" y="5074920"/>
            <a:ext cx="210312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065775" y="5312664"/>
            <a:ext cx="347472" cy="347472"/>
          </a:xfrm>
          <a:prstGeom prst="ellipse">
            <a:avLst/>
          </a:prstGeom>
          <a:solidFill>
            <a:srgbClr val="5E35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41264" y="5276088"/>
            <a:ext cx="1389887" cy="7955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Implementasi yang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lebih baik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memperbaiki proses.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205472" y="5074920"/>
            <a:ext cx="2029968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306055" y="5312664"/>
            <a:ext cx="347472" cy="347472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81544" y="5276088"/>
            <a:ext cx="1316736" cy="7955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Perbaikan proses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menghasilkan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peningkatan kinerja</a:t>
            </a:r>
          </a:p>
          <a:p>
            <a:pPr algn="l">
              <a:lnSpc>
                <a:spcPct val="95000"/>
              </a:lnSpc>
            </a:pPr>
            <a:r>
              <a:rPr sz="1010" b="0">
                <a:solidFill>
                  <a:srgbClr val="1E253D"/>
                </a:solidFill>
                <a:latin typeface="Aptos"/>
              </a:rPr>
              <a:t>procurement.</a:t>
            </a:r>
          </a:p>
        </p:txBody>
      </p:sp>
      <p:grpSp>
        <p:nvGrpSpPr>
          <p:cNvPr id="100" name="Icon Sumber - List"/>
          <p:cNvGrpSpPr/>
          <p:nvPr/>
        </p:nvGrpSpPr>
        <p:grpSpPr>
          <a:xfrm>
            <a:off x="512064" y="6373368"/>
            <a:ext cx="256032" cy="256032"/>
            <a:chOff x="512064" y="6373368"/>
            <a:chExt cx="256032" cy="256032"/>
          </a:xfrm>
        </p:grpSpPr>
        <p:sp>
          <p:nvSpPr>
            <p:cNvPr id="96" name="Rounded Rectangle 95"/>
            <p:cNvSpPr/>
            <p:nvPr/>
          </p:nvSpPr>
          <p:spPr>
            <a:xfrm>
              <a:off x="512064" y="6373368"/>
              <a:ext cx="256032" cy="256032"/>
            </a:xfrm>
            <a:prstGeom prst="roundRect">
              <a:avLst>
                <a:gd name="adj" fmla="val 15000"/>
              </a:avLst>
            </a:prstGeom>
            <a:solidFill>
              <a:srgbClr val="0B4E8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Connector 96"/>
            <p:cNvCxnSpPr/>
            <p:nvPr/>
          </p:nvCxnSpPr>
          <p:spPr>
            <a:xfrm>
              <a:off x="585216" y="6446520"/>
              <a:ext cx="118872" cy="0"/>
            </a:xfrm>
            <a:prstGeom prst="line">
              <a:avLst/>
            </a:prstGeom>
            <a:ln w="1651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 97"/>
            <p:cNvCxnSpPr/>
            <p:nvPr/>
          </p:nvCxnSpPr>
          <p:spPr>
            <a:xfrm>
              <a:off x="585216" y="6501383"/>
              <a:ext cx="118872" cy="0"/>
            </a:xfrm>
            <a:prstGeom prst="line">
              <a:avLst/>
            </a:prstGeom>
            <a:ln w="1651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or 98"/>
            <p:cNvCxnSpPr/>
            <p:nvPr/>
          </p:nvCxnSpPr>
          <p:spPr>
            <a:xfrm>
              <a:off x="585216" y="6556248"/>
              <a:ext cx="82296" cy="0"/>
            </a:xfrm>
            <a:prstGeom prst="line">
              <a:avLst/>
            </a:prstGeom>
            <a:ln w="1651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Box 100"/>
          <p:cNvSpPr txBox="1"/>
          <p:nvPr/>
        </p:nvSpPr>
        <p:spPr>
          <a:xfrm>
            <a:off x="932688" y="6409944"/>
            <a:ext cx="8778240" cy="21945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pPr algn="l"/>
            <a:r>
              <a:rPr sz="890" b="1">
                <a:solidFill>
                  <a:srgbClr val="1E253D"/>
                </a:solidFill>
                <a:latin typeface="Aptos"/>
              </a:rPr>
              <a:t>Sumber:  </a:t>
            </a:r>
            <a:r>
              <a:rPr sz="890" b="0">
                <a:solidFill>
                  <a:srgbClr val="1E253D"/>
                </a:solidFill>
                <a:latin typeface="Aptos"/>
              </a:rPr>
              <a:t>Quesada et al. (2010); Ramayah et al. (2007); Hsin Chang et al. (2013); Taherdoost (2023); Jahani et al. (2021); PwC 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