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03120" y="5532120"/>
            <a:ext cx="4846320" cy="1389888"/>
          </a:xfrm>
          <a:prstGeom prst="ellipse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83080" y="5715000"/>
            <a:ext cx="4343400" cy="1078992"/>
          </a:xfrm>
          <a:prstGeom prst="ellipse">
            <a:avLst/>
          </a:prstGeom>
          <a:solidFill>
            <a:srgbClr val="E7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28431" y="5230368"/>
            <a:ext cx="4846320" cy="1737360"/>
          </a:xfrm>
          <a:prstGeom prst="ellipse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39327" y="5559552"/>
            <a:ext cx="4526280" cy="1389888"/>
          </a:xfrm>
          <a:prstGeom prst="ellipse">
            <a:avLst/>
          </a:prstGeom>
          <a:solidFill>
            <a:srgbClr val="E7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56616" y="228600"/>
            <a:ext cx="0" cy="886968"/>
          </a:xfrm>
          <a:prstGeom prst="line">
            <a:avLst/>
          </a:prstGeom>
          <a:ln w="50800">
            <a:solidFill>
              <a:srgbClr val="0B4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67512" y="283464"/>
            <a:ext cx="8138160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100" b="1">
                <a:solidFill>
                  <a:srgbClr val="0D1B4C"/>
                </a:solidFill>
                <a:latin typeface="Aptos Display"/>
              </a:rPr>
              <a:t>Ringkasan Hubungan Konseptual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923544"/>
            <a:ext cx="84124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50" b="0">
                <a:solidFill>
                  <a:srgbClr val="424A65"/>
                </a:solidFill>
                <a:latin typeface="Aptos"/>
              </a:rPr>
              <a:t>Alur kausal digitalisasi e-procurement terhadap implementasi dan kinerja procurement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3970">
            <a:solidFill>
              <a:srgbClr val="0B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" y="1481328"/>
            <a:ext cx="548640" cy="548640"/>
          </a:xfrm>
          <a:prstGeom prst="ellips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 Symbol"/>
              </a:rPr>
              <a:t>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0B4E8A"/>
                </a:solidFill>
                <a:latin typeface="Aptos"/>
              </a:rPr>
              <a:t>1. Drivers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2615184"/>
            <a:ext cx="859536" cy="0"/>
          </a:xfrm>
          <a:prstGeom prst="line">
            <a:avLst/>
          </a:prstGeom>
          <a:ln w="15240">
            <a:solidFill>
              <a:srgbClr val="0B4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Faktor pendorong utama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mendorong organisasi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mengadopsi e-procurement.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5FBF0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92424" y="1481328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 Symbol"/>
              </a:rPr>
              <a:t>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2E7D32"/>
                </a:solidFill>
                <a:latin typeface="Aptos"/>
              </a:rPr>
              <a:t>2. Digitalisasi</a:t>
            </a:r>
          </a:p>
          <a:p>
            <a:pPr algn="ctr"/>
            <a:r>
              <a:rPr sz="1330" b="1">
                <a:solidFill>
                  <a:srgbClr val="2E7D32"/>
                </a:solidFill>
                <a:latin typeface="Aptos"/>
              </a:rPr>
              <a:t>e-Procurement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36976" y="2615184"/>
            <a:ext cx="859535" cy="0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44368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Sistem dan teknologi digital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mengubah cara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procurement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diimplementasikan.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AF7FF"/>
          </a:solidFill>
          <a:ln w="1397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51576" y="1481328"/>
            <a:ext cx="548640" cy="54864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 Symbol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5E35B1"/>
                </a:solidFill>
                <a:latin typeface="Aptos"/>
              </a:rPr>
              <a:t>3. Implementasi</a:t>
            </a:r>
          </a:p>
          <a:p>
            <a:pPr algn="ctr"/>
            <a:r>
              <a:rPr sz="1330" b="1">
                <a:solidFill>
                  <a:srgbClr val="5E35B1"/>
                </a:solidFill>
                <a:latin typeface="Aptos"/>
              </a:rPr>
              <a:t>e-Procurement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96128" y="2615184"/>
            <a:ext cx="859536" cy="0"/>
          </a:xfrm>
          <a:prstGeom prst="line">
            <a:avLst/>
          </a:prstGeom>
          <a:ln w="1524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0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Implementasi yang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lebih baik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memperbaiki proses.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FF8EF"/>
          </a:solidFill>
          <a:ln w="1397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10727" y="1481328"/>
            <a:ext cx="548640" cy="54864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 Symbol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EF6C00"/>
                </a:solidFill>
                <a:latin typeface="Aptos"/>
              </a:rPr>
              <a:t>4. Kinerja</a:t>
            </a:r>
          </a:p>
          <a:p>
            <a:pPr algn="ctr"/>
            <a:r>
              <a:rPr sz="1330" b="1">
                <a:solidFill>
                  <a:srgbClr val="EF6C00"/>
                </a:solidFill>
                <a:latin typeface="Aptos"/>
              </a:rPr>
              <a:t>Procurement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79" y="2615184"/>
            <a:ext cx="859537" cy="0"/>
          </a:xfrm>
          <a:prstGeom prst="line">
            <a:avLst/>
          </a:prstGeom>
          <a:ln w="15240">
            <a:solidFill>
              <a:srgbClr val="EF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62672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Perbaikan proses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menghasilkan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peningkatan kinerja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procurement.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77440" y="2313432"/>
            <a:ext cx="310896" cy="228600"/>
          </a:xfrm>
          <a:prstGeom prst="rightArrow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4736592" y="2313432"/>
            <a:ext cx="310896" cy="228600"/>
          </a:xfrm>
          <a:prstGeom prst="rightArrow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7086600" y="2313432"/>
            <a:ext cx="310896" cy="228600"/>
          </a:xfrm>
          <a:prstGeom prst="rightArrow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" y="4069080"/>
            <a:ext cx="8796528" cy="822960"/>
          </a:xfrm>
          <a:prstGeom prst="roundRect">
            <a:avLst>
              <a:gd name="adj" fmla="val 7000"/>
            </a:avLst>
          </a:prstGeom>
          <a:solidFill>
            <a:srgbClr val="FBFCFE"/>
          </a:solidFill>
          <a:ln w="12700">
            <a:solidFill>
              <a:srgbClr val="0B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362456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>
            <a:off x="1303020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3666744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>
            <a:off x="3607308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6025896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>
            <a:off x="5966459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8385048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>
            <a:off x="8325612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8136" y="4197096"/>
            <a:ext cx="566928" cy="566928"/>
          </a:xfrm>
          <a:prstGeom prst="ellips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 Symbol"/>
              </a:rPr>
              <a:t>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0512" y="4197096"/>
            <a:ext cx="2788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1">
                <a:solidFill>
                  <a:srgbClr val="0B4E8A"/>
                </a:solidFill>
                <a:latin typeface="Aptos"/>
              </a:rPr>
              <a:t>5. Enablers Keberhasilan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0512" y="4462272"/>
            <a:ext cx="7223759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69" b="0">
                <a:solidFill>
                  <a:srgbClr val="1E253D"/>
                </a:solidFill>
                <a:latin typeface="Aptos"/>
              </a:rPr>
              <a:t>Dukungan manajemen puncak, kompetensi SDM &amp; manajemen perubahan, proses bisnis &amp; tata kelola yang baik,</a:t>
            </a:r>
          </a:p>
          <a:p>
            <a:pPr algn="l">
              <a:lnSpc>
                <a:spcPct val="90000"/>
              </a:lnSpc>
            </a:pPr>
            <a:r>
              <a:rPr sz="969" b="0">
                <a:solidFill>
                  <a:srgbClr val="1E253D"/>
                </a:solidFill>
                <a:latin typeface="Aptos"/>
              </a:rPr>
              <a:t>integrasi sistem &amp; infrastruktur TI, serta keamanan, kepercayaan &amp; manajemen risiko.</a:t>
            </a:r>
          </a:p>
        </p:txBody>
      </p:sp>
      <p:sp>
        <p:nvSpPr>
          <p:cNvPr id="44" name="Chevron 43"/>
          <p:cNvSpPr/>
          <p:nvPr/>
        </p:nvSpPr>
        <p:spPr>
          <a:xfrm>
            <a:off x="9400032" y="2322576"/>
            <a:ext cx="347472" cy="1609344"/>
          </a:xfrm>
          <a:prstGeom prst="chevron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38360" y="1810512"/>
            <a:ext cx="2148840" cy="3054096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3970">
            <a:solidFill>
              <a:srgbClr val="0B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47020" y="1975104"/>
            <a:ext cx="731520" cy="731520"/>
          </a:xfrm>
          <a:prstGeom prst="ellips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100" b="1">
                <a:solidFill>
                  <a:srgbClr val="FFFFFF"/>
                </a:solidFill>
                <a:latin typeface="Segoe UI Symbol"/>
              </a:rP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9528" y="2862072"/>
            <a:ext cx="1746504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60" b="1">
                <a:solidFill>
                  <a:srgbClr val="0B4E8A"/>
                </a:solidFill>
                <a:latin typeface="Aptos"/>
              </a:rPr>
              <a:t>Kesimpulan: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049256" y="3054096"/>
            <a:ext cx="1527048" cy="0"/>
          </a:xfrm>
          <a:prstGeom prst="line">
            <a:avLst/>
          </a:prstGeom>
          <a:ln w="13970">
            <a:solidFill>
              <a:srgbClr val="0B4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948672" y="3273552"/>
            <a:ext cx="1728216" cy="1298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digitalisasi e-procurement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berfungsi sebagai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enabler strategis yang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memperkuat implementasi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dan meningkatkan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kinerja procurement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secara berkelanjutan.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8" y="5074920"/>
            <a:ext cx="2084831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0352" y="5312664"/>
            <a:ext cx="347472" cy="347472"/>
          </a:xfrm>
          <a:prstGeom prst="ellips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276088"/>
            <a:ext cx="1371599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Drivers mendorong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organisasi mengadopsi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e-procurement.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51760" y="5074920"/>
            <a:ext cx="217627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52344" y="531266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27832" y="5276088"/>
            <a:ext cx="1463039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Sistem dan teknologi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digital mengubah cara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procurement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diimplementasikan.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65192" y="5074920"/>
            <a:ext cx="21031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065775" y="5312664"/>
            <a:ext cx="347472" cy="34747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41264" y="5276088"/>
            <a:ext cx="1389887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Implementasi yang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lebih baik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memperbaiki proses.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05472" y="5074920"/>
            <a:ext cx="202996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06055" y="5312664"/>
            <a:ext cx="347472" cy="347472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81544" y="5276088"/>
            <a:ext cx="1316736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Perbaikan proses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menghasilkan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peningkatan kinerja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procurement.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2064" y="6373368"/>
            <a:ext cx="256032" cy="256032"/>
          </a:xfrm>
          <a:prstGeom prst="roundRect">
            <a:avLst>
              <a:gd name="adj" fmla="val 15000"/>
            </a:avLst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ymbol"/>
              </a:rPr>
              <a:t>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" y="6409944"/>
            <a:ext cx="8778240" cy="21945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890" b="1">
                <a:solidFill>
                  <a:srgbClr val="1E253D"/>
                </a:solidFill>
                <a:latin typeface="Aptos"/>
              </a:rPr>
              <a:t>Sumber:  </a:t>
            </a:r>
            <a:r>
              <a:rPr sz="890" b="0">
                <a:solidFill>
                  <a:srgbClr val="1E253D"/>
                </a:solidFill>
                <a:latin typeface="Aptos"/>
              </a:rPr>
              <a:t>Quesada et al. (2010); Ramayah et al. (2007); Hsin Chang et al. (2013); Taherdoost (2023); Jahani et al. (2021); PwC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