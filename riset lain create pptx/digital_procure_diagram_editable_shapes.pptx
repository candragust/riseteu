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766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6482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914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346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5062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482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914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7630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1346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5062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766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6482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14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7630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062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766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6482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914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7630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1346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062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" y="219456"/>
            <a:ext cx="73152" cy="859536"/>
          </a:xfrm>
          <a:prstGeom prst="roundRect">
            <a:avLst>
              <a:gd name="adj" fmla="val 20000"/>
            </a:avLst>
          </a:prstGeom>
          <a:solidFill>
            <a:srgbClr val="061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56032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6154A"/>
                </a:solidFill>
                <a:latin typeface="Aptos Display"/>
              </a:rPr>
              <a:t>Digitalisasi e-Procurement Mendukung</a:t>
            </a:r>
          </a:p>
          <a:p>
            <a:pPr algn="l">
              <a:spcAft>
                <a:spcPts val="0"/>
              </a:spcAft>
            </a:pPr>
            <a:r>
              <a:rPr sz="3100" b="1">
                <a:solidFill>
                  <a:srgbClr val="06154A"/>
                </a:solidFill>
                <a:latin typeface="Aptos Display"/>
              </a:rPr>
              <a:t>Implementasi dan Kinerja Procurement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584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F4E70"/>
                </a:solidFill>
                <a:latin typeface="Aptos"/>
              </a:rPr>
              <a:t>Transformasi diagram konseptual ke format presentasi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1901952"/>
            <a:ext cx="2340864" cy="3063240"/>
          </a:xfrm>
          <a:prstGeom prst="roundRect">
            <a:avLst>
              <a:gd name="adj" fmla="val 7000"/>
            </a:avLst>
          </a:prstGeom>
          <a:solidFill>
            <a:srgbClr val="F3F8FF"/>
          </a:solidFill>
          <a:ln w="1397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2761488"/>
            <a:ext cx="23042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6" name="editable-icon-BANK"/>
          <p:cNvGrpSpPr/>
          <p:nvPr/>
        </p:nvGrpSpPr>
        <p:grpSpPr>
          <a:xfrm>
            <a:off x="1472184" y="1947672"/>
            <a:ext cx="786384" cy="786384"/>
            <a:chOff x="1472184" y="1947672"/>
            <a:chExt cx="786384" cy="786384"/>
          </a:xfrm>
        </p:grpSpPr>
        <p:sp>
          <p:nvSpPr>
            <p:cNvPr id="39" name="Oval 38"/>
            <p:cNvSpPr/>
            <p:nvPr/>
          </p:nvSpPr>
          <p:spPr>
            <a:xfrm>
              <a:off x="1472184" y="1947672"/>
              <a:ext cx="786384" cy="786384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sosceles Triangle 39"/>
            <p:cNvSpPr/>
            <p:nvPr/>
          </p:nvSpPr>
          <p:spPr>
            <a:xfrm>
              <a:off x="1668780" y="2152131"/>
              <a:ext cx="393192" cy="157276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0916" y="2301544"/>
              <a:ext cx="408919" cy="4718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704167" y="2356591"/>
              <a:ext cx="55046" cy="188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837852" y="2356591"/>
              <a:ext cx="55046" cy="188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971537" y="2356591"/>
              <a:ext cx="55046" cy="188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637324" y="2561051"/>
              <a:ext cx="456102" cy="550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41248" y="2834640"/>
            <a:ext cx="2048256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B4EA2"/>
                </a:solidFill>
                <a:latin typeface="Aptos"/>
              </a:rPr>
              <a:t>1. Drivers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0B4EA2"/>
                </a:solidFill>
                <a:latin typeface="Aptos"/>
              </a:rPr>
              <a:t>Digitalisasi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0B4EA2"/>
                </a:solidFill>
                <a:latin typeface="Aptos"/>
              </a:rPr>
              <a:t>e-Procurement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453895" y="3602736"/>
            <a:ext cx="822961" cy="0"/>
          </a:xfrm>
          <a:prstGeom prst="line">
            <a:avLst/>
          </a:prstGeom>
          <a:ln w="25400">
            <a:solidFill>
              <a:srgbClr val="0B4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9536" y="3749039"/>
            <a:ext cx="2011680" cy="11247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Faktor pendorong utama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yang mendorong adopsi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dan transformasi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e-procurement.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56432" y="1901952"/>
            <a:ext cx="2340864" cy="3063240"/>
          </a:xfrm>
          <a:prstGeom prst="roundRect">
            <a:avLst>
              <a:gd name="adj" fmla="val 7000"/>
            </a:avLst>
          </a:prstGeom>
          <a:solidFill>
            <a:srgbClr val="F5FBF0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2761488"/>
            <a:ext cx="23042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8" name="editable-icon-WEB"/>
          <p:cNvGrpSpPr/>
          <p:nvPr/>
        </p:nvGrpSpPr>
        <p:grpSpPr>
          <a:xfrm>
            <a:off x="4233672" y="1947672"/>
            <a:ext cx="786384" cy="786384"/>
            <a:chOff x="4233672" y="1947672"/>
            <a:chExt cx="786384" cy="786384"/>
          </a:xfrm>
        </p:grpSpPr>
        <p:sp>
          <p:nvSpPr>
            <p:cNvPr id="52" name="Oval 51"/>
            <p:cNvSpPr/>
            <p:nvPr/>
          </p:nvSpPr>
          <p:spPr>
            <a:xfrm>
              <a:off x="4233672" y="1947672"/>
              <a:ext cx="786384" cy="78638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422404" y="2136404"/>
              <a:ext cx="408919" cy="408919"/>
            </a:xfrm>
            <a:prstGeom prst="ellipse">
              <a:avLst/>
            </a:prstGeom>
            <a:noFill/>
            <a:ln w="203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4540361" y="2136404"/>
              <a:ext cx="173004" cy="408919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4430268" y="2340864"/>
              <a:ext cx="393191" cy="0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4461723" y="2238634"/>
              <a:ext cx="330281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4461723" y="2443093"/>
              <a:ext cx="330281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/>
          <p:cNvSpPr txBox="1"/>
          <p:nvPr/>
        </p:nvSpPr>
        <p:spPr>
          <a:xfrm>
            <a:off x="3602736" y="2834640"/>
            <a:ext cx="2048256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Aptos"/>
              </a:rPr>
              <a:t>2. Digitalisasi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Aptos"/>
              </a:rPr>
              <a:t>e-Procurement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2E7D32"/>
                </a:solidFill>
                <a:latin typeface="Aptos"/>
              </a:rPr>
              <a:t>(Sistem &amp; Teknologi)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215383" y="3602736"/>
            <a:ext cx="822961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621024" y="3749039"/>
            <a:ext cx="2011680" cy="11247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Pemanfaatan sistem dan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teknologi digital untuk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mendukung proses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e-procurement.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6208" y="1901952"/>
            <a:ext cx="2340864" cy="3063240"/>
          </a:xfrm>
          <a:prstGeom prst="roundRect">
            <a:avLst>
              <a:gd name="adj" fmla="val 7000"/>
            </a:avLst>
          </a:prstGeom>
          <a:solidFill>
            <a:srgbClr val="F8F4FF"/>
          </a:solidFill>
          <a:ln w="1397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54496" y="2761488"/>
            <a:ext cx="23042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8" name="editable-icon-TIME"/>
          <p:cNvGrpSpPr/>
          <p:nvPr/>
        </p:nvGrpSpPr>
        <p:grpSpPr>
          <a:xfrm>
            <a:off x="7013448" y="1947672"/>
            <a:ext cx="786384" cy="786384"/>
            <a:chOff x="7013448" y="1947672"/>
            <a:chExt cx="786384" cy="786384"/>
          </a:xfrm>
        </p:grpSpPr>
        <p:sp>
          <p:nvSpPr>
            <p:cNvPr id="64" name="Oval 63"/>
            <p:cNvSpPr/>
            <p:nvPr/>
          </p:nvSpPr>
          <p:spPr>
            <a:xfrm>
              <a:off x="7013448" y="1947672"/>
              <a:ext cx="786384" cy="786384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02180" y="2136404"/>
              <a:ext cx="408919" cy="408919"/>
            </a:xfrm>
            <a:prstGeom prst="ellipse">
              <a:avLst/>
            </a:prstGeom>
            <a:noFill/>
            <a:ln w="2159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Connector 65"/>
            <p:cNvCxnSpPr/>
            <p:nvPr/>
          </p:nvCxnSpPr>
          <p:spPr>
            <a:xfrm flipV="1">
              <a:off x="7406640" y="2215042"/>
              <a:ext cx="0" cy="125822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7406640" y="2340864"/>
              <a:ext cx="110093" cy="78638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/>
          <p:cNvSpPr txBox="1"/>
          <p:nvPr/>
        </p:nvSpPr>
        <p:spPr>
          <a:xfrm>
            <a:off x="6382512" y="2834640"/>
            <a:ext cx="2048256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E35B1"/>
                </a:solidFill>
                <a:latin typeface="Aptos"/>
              </a:rPr>
              <a:t>3. Implementasi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5E35B1"/>
                </a:solidFill>
                <a:latin typeface="Aptos"/>
              </a:rPr>
              <a:t>e-Procurement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5E35B1"/>
                </a:solidFill>
                <a:latin typeface="Aptos"/>
              </a:rPr>
              <a:t>(Dampak pada Proses)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995160" y="3602736"/>
            <a:ext cx="822960" cy="0"/>
          </a:xfrm>
          <a:prstGeom prst="line">
            <a:avLst/>
          </a:prstGeom>
          <a:ln w="2540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00800" y="3749039"/>
            <a:ext cx="2011680" cy="11247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Dampak penerapan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e-procurement terhadap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proses: lebih cepat,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transparan, akuntabel,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dan berkualitas.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61704" y="1901952"/>
            <a:ext cx="2340864" cy="3063240"/>
          </a:xfrm>
          <a:prstGeom prst="roundRect">
            <a:avLst>
              <a:gd name="adj" fmla="val 7000"/>
            </a:avLst>
          </a:prstGeom>
          <a:solidFill>
            <a:srgbClr val="FFF7ED"/>
          </a:solidFill>
          <a:ln w="1397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79992" y="2761488"/>
            <a:ext cx="23042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9" name="editable-icon-UP"/>
          <p:cNvGrpSpPr/>
          <p:nvPr/>
        </p:nvGrpSpPr>
        <p:grpSpPr>
          <a:xfrm>
            <a:off x="9838944" y="1947672"/>
            <a:ext cx="786384" cy="786384"/>
            <a:chOff x="9838944" y="1947672"/>
            <a:chExt cx="786384" cy="786384"/>
          </a:xfrm>
        </p:grpSpPr>
        <p:sp>
          <p:nvSpPr>
            <p:cNvPr id="74" name="Oval 73"/>
            <p:cNvSpPr/>
            <p:nvPr/>
          </p:nvSpPr>
          <p:spPr>
            <a:xfrm>
              <a:off x="9838944" y="1947672"/>
              <a:ext cx="786384" cy="786384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0074859" y="2364455"/>
              <a:ext cx="78638" cy="1572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208544" y="2277953"/>
              <a:ext cx="78638" cy="2437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0342229" y="2183587"/>
              <a:ext cx="78638" cy="3381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ight Arrow 77"/>
            <p:cNvSpPr/>
            <p:nvPr/>
          </p:nvSpPr>
          <p:spPr>
            <a:xfrm rot="19200000">
              <a:off x="10129906" y="2136404"/>
              <a:ext cx="330281" cy="94366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9208008" y="2834640"/>
            <a:ext cx="2048256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F7D00"/>
                </a:solidFill>
                <a:latin typeface="Aptos"/>
              </a:rPr>
              <a:t>4. Kinerja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EF7D00"/>
                </a:solidFill>
                <a:latin typeface="Aptos"/>
              </a:rPr>
              <a:t>Procurement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EF7D00"/>
                </a:solidFill>
                <a:latin typeface="Aptos"/>
              </a:rPr>
              <a:t>(Hasil Kinerja)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820656" y="3602736"/>
            <a:ext cx="822960" cy="0"/>
          </a:xfrm>
          <a:prstGeom prst="line">
            <a:avLst/>
          </a:prstGeom>
          <a:ln w="25400">
            <a:solidFill>
              <a:srgbClr val="EF7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226296" y="3749039"/>
            <a:ext cx="2011680" cy="11247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Peningkatan hasil kinerja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procurement: efisiensi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biaya, kualitas, ketepatan</a:t>
            </a:r>
          </a:p>
          <a:p>
            <a:pPr algn="ctr">
              <a:spcAft>
                <a:spcPts val="0"/>
              </a:spcAft>
            </a:pPr>
            <a:r>
              <a:rPr sz="1140" b="1">
                <a:solidFill>
                  <a:srgbClr val="172033"/>
                </a:solidFill>
                <a:latin typeface="Aptos"/>
              </a:rPr>
              <a:t>waktu, dan nilai organisasi.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3108960" y="3127248"/>
            <a:ext cx="329184" cy="219456"/>
          </a:xfrm>
          <a:prstGeom prst="rightArrow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ight Arrow 83"/>
          <p:cNvSpPr/>
          <p:nvPr/>
        </p:nvSpPr>
        <p:spPr>
          <a:xfrm>
            <a:off x="5897880" y="3127248"/>
            <a:ext cx="329184" cy="219456"/>
          </a:xfrm>
          <a:prstGeom prst="rightArrow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ight Arrow 84"/>
          <p:cNvSpPr/>
          <p:nvPr/>
        </p:nvSpPr>
        <p:spPr>
          <a:xfrm>
            <a:off x="8686800" y="3127248"/>
            <a:ext cx="329184" cy="219456"/>
          </a:xfrm>
          <a:prstGeom prst="rightArrow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-enablers-bar"/>
          <p:cNvSpPr/>
          <p:nvPr/>
        </p:nvSpPr>
        <p:spPr>
          <a:xfrm>
            <a:off x="694944" y="5148072"/>
            <a:ext cx="10716768" cy="9601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397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4" name="editable-icon-TEAM"/>
          <p:cNvGrpSpPr/>
          <p:nvPr/>
        </p:nvGrpSpPr>
        <p:grpSpPr>
          <a:xfrm>
            <a:off x="1216152" y="5266944"/>
            <a:ext cx="713232" cy="713232"/>
            <a:chOff x="1216152" y="5266944"/>
            <a:chExt cx="713232" cy="713232"/>
          </a:xfrm>
        </p:grpSpPr>
        <p:sp>
          <p:nvSpPr>
            <p:cNvPr id="87" name="Oval 86"/>
            <p:cNvSpPr/>
            <p:nvPr/>
          </p:nvSpPr>
          <p:spPr>
            <a:xfrm>
              <a:off x="1216152" y="5266944"/>
              <a:ext cx="713232" cy="71323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394460" y="5509442"/>
              <a:ext cx="114117" cy="1141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636958" y="5509442"/>
              <a:ext cx="114117" cy="1141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501444" y="5438119"/>
              <a:ext cx="142646" cy="14264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369496" y="5662787"/>
              <a:ext cx="164043" cy="1212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611995" y="5662787"/>
              <a:ext cx="164043" cy="1212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469349" y="5641390"/>
              <a:ext cx="206837" cy="14977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2395728" y="5303520"/>
            <a:ext cx="3383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1">
                <a:solidFill>
                  <a:srgbClr val="0B4EA2"/>
                </a:solidFill>
                <a:latin typeface="Aptos"/>
              </a:rPr>
              <a:t>5. Enablers Keberhasilan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95728" y="5614416"/>
            <a:ext cx="815644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1">
                <a:solidFill>
                  <a:srgbClr val="172033"/>
                </a:solidFill>
                <a:latin typeface="Aptos"/>
              </a:rPr>
              <a:t>Dukungan manajemen puncak, kompetensi SDM &amp; manajemen perubahan, proses bisnis &amp; tata kelola yang baik,</a:t>
            </a:r>
          </a:p>
          <a:p>
            <a:pPr algn="l">
              <a:spcAft>
                <a:spcPts val="0"/>
              </a:spcAft>
            </a:pPr>
            <a:r>
              <a:rPr sz="1090" b="1">
                <a:solidFill>
                  <a:srgbClr val="172033"/>
                </a:solidFill>
                <a:latin typeface="Aptos"/>
              </a:rPr>
              <a:t>integrasi sistem &amp; infrastruktur TI, serta keamanan, kepercayaan &amp; manajemen risiko.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66928" y="6272784"/>
            <a:ext cx="8668512" cy="0"/>
          </a:xfrm>
          <a:prstGeom prst="line">
            <a:avLst/>
          </a:prstGeom>
          <a:ln w="1016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685800" y="636422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848" y="6391656"/>
            <a:ext cx="905256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172033"/>
                </a:solidFill>
                <a:latin typeface="Aptos"/>
              </a:rPr>
              <a:t>Sumber:  </a:t>
            </a:r>
            <a:r>
              <a:rPr sz="819" b="0">
                <a:solidFill>
                  <a:srgbClr val="172033"/>
                </a:solidFill>
                <a:latin typeface="Aptos"/>
              </a:rPr>
              <a:t>Quesada et al. (2010); Ramayah et al. (2007); Hsin Chang et al. (2013); Taherdoost (2023); Jahani et al. (2021); PwC (2024).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766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6482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914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346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5062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482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914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7630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1346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5062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766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6482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14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7630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062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766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6482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914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7630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1346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062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" y="219456"/>
            <a:ext cx="73152" cy="859536"/>
          </a:xfrm>
          <a:prstGeom prst="roundRect">
            <a:avLst>
              <a:gd name="adj" fmla="val 20000"/>
            </a:avLst>
          </a:prstGeom>
          <a:solidFill>
            <a:srgbClr val="061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56032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6154A"/>
                </a:solidFill>
                <a:latin typeface="Aptos Display"/>
              </a:rPr>
              <a:t>1. Drivers Digitalisasi e-Procurement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584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F4E70"/>
                </a:solidFill>
                <a:latin typeface="Aptos"/>
              </a:rPr>
              <a:t>Faktor pendorong utama adopsi dan transformasi digital procurement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1444752"/>
            <a:ext cx="3246120" cy="4297680"/>
          </a:xfrm>
          <a:prstGeom prst="roundRect">
            <a:avLst>
              <a:gd name="adj" fmla="val 6000"/>
            </a:avLst>
          </a:prstGeom>
          <a:solidFill>
            <a:srgbClr val="F3F8FF"/>
          </a:solidFill>
          <a:ln w="1524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5" name="editable-icon-BANK"/>
          <p:cNvGrpSpPr/>
          <p:nvPr/>
        </p:nvGrpSpPr>
        <p:grpSpPr>
          <a:xfrm>
            <a:off x="1755648" y="1572767"/>
            <a:ext cx="1170432" cy="1170432"/>
            <a:chOff x="1755648" y="1572767"/>
            <a:chExt cx="1170432" cy="1170432"/>
          </a:xfrm>
        </p:grpSpPr>
        <p:sp>
          <p:nvSpPr>
            <p:cNvPr id="38" name="Oval 37"/>
            <p:cNvSpPr/>
            <p:nvPr/>
          </p:nvSpPr>
          <p:spPr>
            <a:xfrm>
              <a:off x="1755648" y="1572767"/>
              <a:ext cx="1170432" cy="117043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sosceles Triangle 38"/>
            <p:cNvSpPr/>
            <p:nvPr/>
          </p:nvSpPr>
          <p:spPr>
            <a:xfrm>
              <a:off x="2048256" y="1877080"/>
              <a:ext cx="585216" cy="234086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036551" y="2099462"/>
              <a:ext cx="608624" cy="702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100925" y="2181392"/>
              <a:ext cx="81930" cy="2809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299898" y="2181392"/>
              <a:ext cx="81930" cy="2809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498872" y="2181392"/>
              <a:ext cx="81930" cy="2809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001438" y="2485704"/>
              <a:ext cx="678850" cy="819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1005840" y="2880360"/>
            <a:ext cx="265176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20" b="1">
                <a:solidFill>
                  <a:srgbClr val="0B4EA2"/>
                </a:solidFill>
                <a:latin typeface="Aptos"/>
              </a:rPr>
              <a:t>1. Drivers</a:t>
            </a:r>
          </a:p>
          <a:p>
            <a:pPr algn="ctr">
              <a:spcAft>
                <a:spcPts val="0"/>
              </a:spcAft>
            </a:pPr>
            <a:r>
              <a:rPr sz="1820" b="1">
                <a:solidFill>
                  <a:srgbClr val="0B4EA2"/>
                </a:solidFill>
                <a:latin typeface="Aptos"/>
              </a:rPr>
              <a:t>Digitalisasi</a:t>
            </a:r>
          </a:p>
          <a:p>
            <a:pPr algn="ctr">
              <a:spcAft>
                <a:spcPts val="0"/>
              </a:spcAft>
            </a:pPr>
            <a:r>
              <a:rPr sz="1820" b="1">
                <a:solidFill>
                  <a:srgbClr val="0B4EA2"/>
                </a:solidFill>
                <a:latin typeface="Aptos"/>
              </a:rPr>
              <a:t>e-Procurement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27632" y="4069080"/>
            <a:ext cx="1426464" cy="0"/>
          </a:xfrm>
          <a:prstGeom prst="line">
            <a:avLst/>
          </a:prstGeom>
          <a:ln w="25400">
            <a:solidFill>
              <a:srgbClr val="0B4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97280" y="4343400"/>
            <a:ext cx="24688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Faktor pendorong utama</a:t>
            </a:r>
          </a:p>
          <a:p>
            <a:pPr algn="ctr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yang mendorong adopsi</a:t>
            </a:r>
          </a:p>
          <a:p>
            <a:pPr algn="ctr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dan transformasi</a:t>
            </a:r>
          </a:p>
          <a:p>
            <a:pPr algn="ctr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e-procurement.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078224" y="3337560"/>
            <a:ext cx="274320" cy="320040"/>
          </a:xfrm>
          <a:prstGeom prst="rightArrow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26280" y="1572768"/>
            <a:ext cx="70591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8" name="editable-icon-BANK"/>
          <p:cNvGrpSpPr/>
          <p:nvPr/>
        </p:nvGrpSpPr>
        <p:grpSpPr>
          <a:xfrm>
            <a:off x="4745736" y="1627632"/>
            <a:ext cx="749808" cy="749808"/>
            <a:chOff x="4745736" y="1627632"/>
            <a:chExt cx="749808" cy="749808"/>
          </a:xfrm>
        </p:grpSpPr>
        <p:sp>
          <p:nvSpPr>
            <p:cNvPr id="51" name="Oval 50"/>
            <p:cNvSpPr/>
            <p:nvPr/>
          </p:nvSpPr>
          <p:spPr>
            <a:xfrm>
              <a:off x="4745736" y="1627632"/>
              <a:ext cx="749808" cy="749808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Isosceles Triangle 51"/>
            <p:cNvSpPr/>
            <p:nvPr/>
          </p:nvSpPr>
          <p:spPr>
            <a:xfrm>
              <a:off x="4933188" y="1822582"/>
              <a:ext cx="374904" cy="149961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925689" y="1965045"/>
              <a:ext cx="389900" cy="44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966929" y="2017532"/>
              <a:ext cx="52486" cy="1799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094396" y="2017532"/>
              <a:ext cx="52486" cy="1799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221864" y="2017532"/>
              <a:ext cx="52486" cy="1799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903195" y="2212482"/>
              <a:ext cx="434888" cy="524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779008" y="173736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60" b="1">
                <a:solidFill>
                  <a:srgbClr val="06154A"/>
                </a:solidFill>
                <a:latin typeface="Aptos"/>
              </a:rPr>
              <a:t>1. Tuntutan transparansi, akuntabilitas &amp; kepatuhan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79008" y="2093976"/>
            <a:ext cx="530352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(Croom &amp; Brandon-Jones, 2007; OECD, 2016)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26280" y="2670048"/>
            <a:ext cx="70591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745736" y="2724911"/>
            <a:ext cx="749808" cy="7498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79008" y="283464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60" b="1">
                <a:solidFill>
                  <a:srgbClr val="06154A"/>
                </a:solidFill>
                <a:latin typeface="Aptos"/>
              </a:rPr>
              <a:t>2. Efisiensi biaya &amp; nilai terbaik (value for money)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3191256"/>
            <a:ext cx="530352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(Thai, 2001; Mabert et al., 2003)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26280" y="3767328"/>
            <a:ext cx="70591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1" name="editable-icon-UP"/>
          <p:cNvGrpSpPr/>
          <p:nvPr/>
        </p:nvGrpSpPr>
        <p:grpSpPr>
          <a:xfrm>
            <a:off x="4745736" y="3822191"/>
            <a:ext cx="749808" cy="749808"/>
            <a:chOff x="4745736" y="3822191"/>
            <a:chExt cx="749808" cy="749808"/>
          </a:xfrm>
        </p:grpSpPr>
        <p:sp>
          <p:nvSpPr>
            <p:cNvPr id="66" name="Oval 65"/>
            <p:cNvSpPr/>
            <p:nvPr/>
          </p:nvSpPr>
          <p:spPr>
            <a:xfrm>
              <a:off x="4745736" y="3822191"/>
              <a:ext cx="749808" cy="749808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970678" y="4219590"/>
              <a:ext cx="74980" cy="1499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098145" y="4137111"/>
              <a:ext cx="74980" cy="2324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225613" y="4047134"/>
              <a:ext cx="74980" cy="3224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ight Arrow 69"/>
            <p:cNvSpPr/>
            <p:nvPr/>
          </p:nvSpPr>
          <p:spPr>
            <a:xfrm rot="19200000">
              <a:off x="5023164" y="4002145"/>
              <a:ext cx="314919" cy="89976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5779008" y="39319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60" b="1">
                <a:solidFill>
                  <a:srgbClr val="06154A"/>
                </a:solidFill>
                <a:latin typeface="Aptos"/>
              </a:rPr>
              <a:t>3. Peningkatan kinerja &amp; daya saing organisasi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79008" y="4288536"/>
            <a:ext cx="530352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(Gupta &amp; Narain, 2015; Alawadhi &amp; Alshurideh, 2024)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26280" y="4864607"/>
            <a:ext cx="705916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2" name="editable-icon-TEAM"/>
          <p:cNvGrpSpPr/>
          <p:nvPr/>
        </p:nvGrpSpPr>
        <p:grpSpPr>
          <a:xfrm>
            <a:off x="4745736" y="4919471"/>
            <a:ext cx="749808" cy="749808"/>
            <a:chOff x="4745736" y="4919471"/>
            <a:chExt cx="749808" cy="749808"/>
          </a:xfrm>
        </p:grpSpPr>
        <p:sp>
          <p:nvSpPr>
            <p:cNvPr id="75" name="Oval 74"/>
            <p:cNvSpPr/>
            <p:nvPr/>
          </p:nvSpPr>
          <p:spPr>
            <a:xfrm>
              <a:off x="4745736" y="4919471"/>
              <a:ext cx="749808" cy="749808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4933188" y="5174406"/>
              <a:ext cx="119969" cy="11996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5188122" y="5174406"/>
              <a:ext cx="119969" cy="11996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5045659" y="5099425"/>
              <a:ext cx="149961" cy="14996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4906944" y="5335615"/>
              <a:ext cx="172455" cy="12746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5161879" y="5335615"/>
              <a:ext cx="172455" cy="12746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5011917" y="5313121"/>
              <a:ext cx="217444" cy="15745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5779008" y="5029199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60" b="1">
                <a:solidFill>
                  <a:srgbClr val="06154A"/>
                </a:solidFill>
                <a:latin typeface="Aptos"/>
              </a:rPr>
              <a:t>4. Kompleksitas rantai pasok &amp; kolaborasi pemasok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79008" y="5385816"/>
            <a:ext cx="530352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(Monczka et al., 2008; Handfield et al., 2015)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" y="5925312"/>
            <a:ext cx="10863072" cy="731520"/>
          </a:xfrm>
          <a:prstGeom prst="roundRect">
            <a:avLst>
              <a:gd name="adj" fmla="val 6000"/>
            </a:avLst>
          </a:prstGeom>
          <a:solidFill>
            <a:srgbClr val="F3F8FF"/>
          </a:solidFill>
          <a:ln w="12700">
            <a:solidFill>
              <a:srgbClr val="A9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5" name="editable-icon-IDEA"/>
          <p:cNvGrpSpPr/>
          <p:nvPr/>
        </p:nvGrpSpPr>
        <p:grpSpPr>
          <a:xfrm>
            <a:off x="960120" y="6007608"/>
            <a:ext cx="566928" cy="566928"/>
            <a:chOff x="960120" y="6007608"/>
            <a:chExt cx="566928" cy="566928"/>
          </a:xfrm>
        </p:grpSpPr>
        <p:sp>
          <p:nvSpPr>
            <p:cNvPr id="86" name="Oval 85"/>
            <p:cNvSpPr/>
            <p:nvPr/>
          </p:nvSpPr>
          <p:spPr>
            <a:xfrm>
              <a:off x="960120" y="6007608"/>
              <a:ext cx="566928" cy="566928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158544" y="6155009"/>
              <a:ext cx="170078" cy="181416"/>
            </a:xfrm>
            <a:prstGeom prst="ellipse">
              <a:avLst/>
            </a:prstGeom>
            <a:noFill/>
            <a:ln w="177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186891" y="6336426"/>
              <a:ext cx="113385" cy="453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203899" y="6393119"/>
              <a:ext cx="79369" cy="340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0" name="Connector 89"/>
            <p:cNvCxnSpPr/>
            <p:nvPr/>
          </p:nvCxnSpPr>
          <p:spPr>
            <a:xfrm flipH="1" flipV="1">
              <a:off x="1084844" y="6189024"/>
              <a:ext cx="44447" cy="28574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 flipV="1">
              <a:off x="1357876" y="6189024"/>
              <a:ext cx="44447" cy="28574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 flipH="1">
              <a:off x="1062167" y="6299235"/>
              <a:ext cx="50796" cy="3175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74204" y="6299235"/>
              <a:ext cx="50796" cy="3175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V="1">
              <a:off x="1243584" y="6092647"/>
              <a:ext cx="0" cy="55559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/>
        </p:nvSpPr>
        <p:spPr>
          <a:xfrm>
            <a:off x="1828800" y="6071616"/>
            <a:ext cx="905256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Implikasi:  </a:t>
            </a:r>
            <a:r>
              <a:rPr sz="1200" b="1">
                <a:solidFill>
                  <a:srgbClr val="172033"/>
                </a:solidFill>
                <a:latin typeface="Aptos"/>
              </a:rPr>
              <a:t>faktor-faktor ini mendorong organisasi untuk mengadopsi e-procurement
sebagai fondasi peningkatan implementasi procurement.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E2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E2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766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6482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914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346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50624" y="30175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482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914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7630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1346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50624" y="43891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766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6482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14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7630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0624" y="57607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766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6482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914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7630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1346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0624" y="713232"/>
            <a:ext cx="22860" cy="22860"/>
          </a:xfrm>
          <a:prstGeom prst="ellipse">
            <a:avLst/>
          </a:prstGeom>
          <a:solidFill>
            <a:srgbClr val="89B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" y="219456"/>
            <a:ext cx="73152" cy="859536"/>
          </a:xfrm>
          <a:prstGeom prst="roundRect">
            <a:avLst>
              <a:gd name="adj" fmla="val 20000"/>
            </a:avLst>
          </a:prstGeom>
          <a:solidFill>
            <a:srgbClr val="0C4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56032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C4A12"/>
                </a:solidFill>
                <a:latin typeface="Aptos Display"/>
              </a:rPr>
              <a:t>2. Digitalisasi e-Procurement (Sistem &amp; Teknologi)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584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F4E70"/>
                </a:solidFill>
                <a:latin typeface="Aptos"/>
              </a:rPr>
              <a:t>Komponen digital yang mendukung implementasi procurement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1408176"/>
            <a:ext cx="7589520" cy="4828032"/>
          </a:xfrm>
          <a:prstGeom prst="roundRect">
            <a:avLst>
              <a:gd name="adj" fmla="val 5000"/>
            </a:avLst>
          </a:prstGeom>
          <a:solidFill>
            <a:srgbClr val="F5FBF0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5840" y="1554480"/>
            <a:ext cx="6949440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D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5" name="editable-icon-WEB"/>
          <p:cNvGrpSpPr/>
          <p:nvPr/>
        </p:nvGrpSpPr>
        <p:grpSpPr>
          <a:xfrm>
            <a:off x="1353312" y="1627632"/>
            <a:ext cx="512064" cy="512064"/>
            <a:chOff x="1353312" y="1627632"/>
            <a:chExt cx="512064" cy="512064"/>
          </a:xfrm>
        </p:grpSpPr>
        <p:sp>
          <p:nvSpPr>
            <p:cNvPr id="39" name="Oval 38"/>
            <p:cNvSpPr/>
            <p:nvPr/>
          </p:nvSpPr>
          <p:spPr>
            <a:xfrm>
              <a:off x="1353312" y="1627632"/>
              <a:ext cx="512064" cy="51206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476207" y="1750527"/>
              <a:ext cx="266273" cy="266273"/>
            </a:xfrm>
            <a:prstGeom prst="ellipse">
              <a:avLst/>
            </a:prstGeom>
            <a:noFill/>
            <a:ln w="203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53016" y="1750527"/>
              <a:ext cx="112654" cy="266273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Connector 41"/>
            <p:cNvCxnSpPr/>
            <p:nvPr/>
          </p:nvCxnSpPr>
          <p:spPr>
            <a:xfrm>
              <a:off x="1481328" y="1883664"/>
              <a:ext cx="256032" cy="0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1501810" y="1817095"/>
              <a:ext cx="215067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1501810" y="1950232"/>
              <a:ext cx="215067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2331720" y="1664207"/>
            <a:ext cx="47548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0C4A12"/>
                </a:solidFill>
                <a:latin typeface="Aptos"/>
              </a:rPr>
              <a:t>e-Tendering / e-Sourcing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1956816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Tender elektronik, e-auction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2322576"/>
            <a:ext cx="6949440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D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4" name="editable-icon-DOC"/>
          <p:cNvGrpSpPr/>
          <p:nvPr/>
        </p:nvGrpSpPr>
        <p:grpSpPr>
          <a:xfrm>
            <a:off x="1353312" y="2395728"/>
            <a:ext cx="512064" cy="512064"/>
            <a:chOff x="1353312" y="2395728"/>
            <a:chExt cx="512064" cy="512064"/>
          </a:xfrm>
        </p:grpSpPr>
        <p:sp>
          <p:nvSpPr>
            <p:cNvPr id="49" name="Oval 48"/>
            <p:cNvSpPr/>
            <p:nvPr/>
          </p:nvSpPr>
          <p:spPr>
            <a:xfrm>
              <a:off x="1353312" y="2395728"/>
              <a:ext cx="512064" cy="51206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517172" y="2513502"/>
              <a:ext cx="184343" cy="276514"/>
            </a:xfrm>
            <a:prstGeom prst="rect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1558137" y="2621036"/>
              <a:ext cx="102413" cy="0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1558137" y="2682483"/>
              <a:ext cx="102413" cy="0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558137" y="2743931"/>
              <a:ext cx="76810" cy="0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2331720" y="2432304"/>
            <a:ext cx="47548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0C4A12"/>
                </a:solidFill>
                <a:latin typeface="Aptos"/>
              </a:rPr>
              <a:t>e-Ordering &amp; e-Catalog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2724912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Pemesanan &amp; katalog elektronik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5840" y="3090672"/>
            <a:ext cx="6949440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D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3" name="editable-icon-TRK"/>
          <p:cNvGrpSpPr/>
          <p:nvPr/>
        </p:nvGrpSpPr>
        <p:grpSpPr>
          <a:xfrm>
            <a:off x="1353312" y="3163824"/>
            <a:ext cx="512064" cy="512064"/>
            <a:chOff x="1353312" y="3163824"/>
            <a:chExt cx="512064" cy="512064"/>
          </a:xfrm>
        </p:grpSpPr>
        <p:sp>
          <p:nvSpPr>
            <p:cNvPr id="58" name="Oval 57"/>
            <p:cNvSpPr/>
            <p:nvPr/>
          </p:nvSpPr>
          <p:spPr>
            <a:xfrm>
              <a:off x="1353312" y="3163824"/>
              <a:ext cx="512064" cy="51206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460845" y="3368649"/>
              <a:ext cx="174101" cy="133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634947" y="3399373"/>
              <a:ext cx="102412" cy="1024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496689" y="3506906"/>
              <a:ext cx="61447" cy="614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665671" y="3506906"/>
              <a:ext cx="61447" cy="614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2331720" y="3200400"/>
            <a:ext cx="47548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0C4A12"/>
                </a:solidFill>
                <a:latin typeface="Aptos"/>
              </a:rPr>
              <a:t>e-Contract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1720" y="3493008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Manajemen kontrak elektronik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5840" y="3858768"/>
            <a:ext cx="6949440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D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2" name="editable-icon-PAY"/>
          <p:cNvGrpSpPr/>
          <p:nvPr/>
        </p:nvGrpSpPr>
        <p:grpSpPr>
          <a:xfrm>
            <a:off x="1353312" y="3931920"/>
            <a:ext cx="512064" cy="512064"/>
            <a:chOff x="1353312" y="3931920"/>
            <a:chExt cx="512064" cy="512064"/>
          </a:xfrm>
        </p:grpSpPr>
        <p:sp>
          <p:nvSpPr>
            <p:cNvPr id="67" name="Oval 66"/>
            <p:cNvSpPr/>
            <p:nvPr/>
          </p:nvSpPr>
          <p:spPr>
            <a:xfrm>
              <a:off x="1353312" y="3931920"/>
              <a:ext cx="512064" cy="51206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465966" y="4100901"/>
              <a:ext cx="286755" cy="174101"/>
            </a:xfrm>
            <a:prstGeom prst="rect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486448" y="4136745"/>
              <a:ext cx="245790" cy="30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506931" y="4213555"/>
              <a:ext cx="66568" cy="204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609344" y="4213555"/>
              <a:ext cx="81930" cy="204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2331720" y="3968496"/>
            <a:ext cx="47548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0C4A12"/>
                </a:solidFill>
                <a:latin typeface="Aptos"/>
              </a:rPr>
              <a:t>e-Payment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1720" y="4261104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Pembayaran elektronik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5840" y="4626864"/>
            <a:ext cx="6949440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D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8" name="editable-icon-BI"/>
          <p:cNvGrpSpPr/>
          <p:nvPr/>
        </p:nvGrpSpPr>
        <p:grpSpPr>
          <a:xfrm>
            <a:off x="1353312" y="4700016"/>
            <a:ext cx="512064" cy="512064"/>
            <a:chOff x="1353312" y="4700016"/>
            <a:chExt cx="512064" cy="512064"/>
          </a:xfrm>
        </p:grpSpPr>
        <p:sp>
          <p:nvSpPr>
            <p:cNvPr id="76" name="Oval 75"/>
            <p:cNvSpPr/>
            <p:nvPr/>
          </p:nvSpPr>
          <p:spPr>
            <a:xfrm>
              <a:off x="1353312" y="4700016"/>
              <a:ext cx="512064" cy="51206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Can 76"/>
            <p:cNvSpPr/>
            <p:nvPr/>
          </p:nvSpPr>
          <p:spPr>
            <a:xfrm>
              <a:off x="1486448" y="4822911"/>
              <a:ext cx="245790" cy="266273"/>
            </a:xfrm>
            <a:prstGeom prst="ca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2331720" y="4736592"/>
            <a:ext cx="47548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0C4A12"/>
                </a:solidFill>
                <a:latin typeface="Aptos"/>
              </a:rPr>
              <a:t>Data &amp; Analytics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31720" y="5029200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Event log, dashboard, BI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5840" y="5394960"/>
            <a:ext cx="6949440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D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6" name="editable-icon-SEC"/>
          <p:cNvGrpSpPr/>
          <p:nvPr/>
        </p:nvGrpSpPr>
        <p:grpSpPr>
          <a:xfrm>
            <a:off x="1353312" y="5468112"/>
            <a:ext cx="512064" cy="512064"/>
            <a:chOff x="1353312" y="5468112"/>
            <a:chExt cx="512064" cy="512064"/>
          </a:xfrm>
        </p:grpSpPr>
        <p:sp>
          <p:nvSpPr>
            <p:cNvPr id="82" name="Oval 81"/>
            <p:cNvSpPr/>
            <p:nvPr/>
          </p:nvSpPr>
          <p:spPr>
            <a:xfrm>
              <a:off x="1353312" y="5468112"/>
              <a:ext cx="512064" cy="512064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entagon 82"/>
            <p:cNvSpPr/>
            <p:nvPr/>
          </p:nvSpPr>
          <p:spPr>
            <a:xfrm>
              <a:off x="1491569" y="5596128"/>
              <a:ext cx="235549" cy="245790"/>
            </a:xfrm>
            <a:prstGeom prst="homePlat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568378" y="5713902"/>
              <a:ext cx="81930" cy="87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558137" y="5647334"/>
              <a:ext cx="102412" cy="102412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2331720" y="5504688"/>
            <a:ext cx="47548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0C4A12"/>
                </a:solidFill>
                <a:latin typeface="Aptos"/>
              </a:rPr>
              <a:t>Keamanan informasi &amp; integrasi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31720" y="5797296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172033"/>
                </a:solidFill>
                <a:latin typeface="Aptos"/>
              </a:rPr>
              <a:t>Keamanan data, integrasi sistem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32520" y="2523744"/>
            <a:ext cx="2724912" cy="2194560"/>
          </a:xfrm>
          <a:prstGeom prst="roundRect">
            <a:avLst>
              <a:gd name="adj" fmla="val 5000"/>
            </a:avLst>
          </a:prstGeom>
          <a:solidFill>
            <a:srgbClr val="F5FB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41664" y="2523744"/>
            <a:ext cx="2706624" cy="713232"/>
          </a:xfrm>
          <a:prstGeom prst="rect">
            <a:avLst/>
          </a:prstGeom>
          <a:solidFill>
            <a:srgbClr val="EAF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0" name="editable-icon-IDEA"/>
          <p:cNvGrpSpPr/>
          <p:nvPr/>
        </p:nvGrpSpPr>
        <p:grpSpPr>
          <a:xfrm>
            <a:off x="8878824" y="2587752"/>
            <a:ext cx="585216" cy="585216"/>
            <a:chOff x="8878824" y="2587752"/>
            <a:chExt cx="585216" cy="585216"/>
          </a:xfrm>
        </p:grpSpPr>
        <p:sp>
          <p:nvSpPr>
            <p:cNvPr id="91" name="Oval 90"/>
            <p:cNvSpPr/>
            <p:nvPr/>
          </p:nvSpPr>
          <p:spPr>
            <a:xfrm>
              <a:off x="8878824" y="2587752"/>
              <a:ext cx="585216" cy="585216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9083649" y="2739908"/>
              <a:ext cx="175564" cy="187269"/>
            </a:xfrm>
            <a:prstGeom prst="ellipse">
              <a:avLst/>
            </a:prstGeom>
            <a:noFill/>
            <a:ln w="177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112910" y="2927177"/>
              <a:ext cx="117043" cy="468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9130466" y="2985698"/>
              <a:ext cx="81930" cy="35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 flipH="1" flipV="1">
              <a:off x="9007571" y="2775021"/>
              <a:ext cx="45881" cy="29495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 flipV="1">
              <a:off x="9289411" y="2775021"/>
              <a:ext cx="45881" cy="29495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 flipH="1">
              <a:off x="8984162" y="2888787"/>
              <a:ext cx="52436" cy="3277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9306265" y="2888787"/>
              <a:ext cx="52436" cy="3277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 flipV="1">
              <a:off x="9171432" y="2675534"/>
              <a:ext cx="0" cy="57351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00"/>
          <p:cNvSpPr txBox="1"/>
          <p:nvPr/>
        </p:nvSpPr>
        <p:spPr>
          <a:xfrm>
            <a:off x="9619488" y="2743200"/>
            <a:ext cx="1280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C4A12"/>
                </a:solidFill>
                <a:latin typeface="Aptos"/>
              </a:rPr>
              <a:t>Makna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61120" y="3429000"/>
            <a:ext cx="210312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ptos"/>
              </a:rPr>
              <a:t>Digitalisasi tidak hanya berarti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ptos"/>
              </a:rPr>
              <a:t>otomatisasi transaksi, tetapi juga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ptos"/>
              </a:rPr>
              <a:t>integrasi data, visibilitas proses,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ptos"/>
              </a:rPr>
              <a:t>dan kemampuan analitik.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66928" y="6272784"/>
            <a:ext cx="8668512" cy="0"/>
          </a:xfrm>
          <a:prstGeom prst="line">
            <a:avLst/>
          </a:prstGeom>
          <a:ln w="1016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85800" y="6364224"/>
            <a:ext cx="219456" cy="21945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9848" y="6391656"/>
            <a:ext cx="905256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172033"/>
                </a:solidFill>
                <a:latin typeface="Aptos"/>
              </a:rPr>
              <a:t>Sumber:  </a:t>
            </a:r>
            <a:r>
              <a:rPr sz="819" b="0">
                <a:solidFill>
                  <a:srgbClr val="172033"/>
                </a:solidFill>
                <a:latin typeface="Aptos"/>
              </a:rPr>
              <a:t>Diadaptasi dari Quesada et al. (2010); Hsin Chang et al. (2013); Taherdoost (2023); Jahani et al. (2021).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EE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EE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766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6482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914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346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50624" y="30175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482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914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7630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1346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50624" y="43891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766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6482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14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7630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0624" y="57607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766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6482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914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7630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1346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0624" y="713232"/>
            <a:ext cx="22860" cy="22860"/>
          </a:xfrm>
          <a:prstGeom prst="ellipse">
            <a:avLst/>
          </a:prstGeom>
          <a:solidFill>
            <a:srgbClr val="9A7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" y="219456"/>
            <a:ext cx="73152" cy="859536"/>
          </a:xfrm>
          <a:prstGeom prst="roundRect">
            <a:avLst>
              <a:gd name="adj" fmla="val 20000"/>
            </a:avLst>
          </a:prstGeom>
          <a:solidFill>
            <a:srgbClr val="160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56032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0A3B"/>
                </a:solidFill>
                <a:latin typeface="Aptos Display"/>
              </a:rPr>
              <a:t>3. Implementasi e-Procurement</a:t>
            </a:r>
          </a:p>
          <a:p>
            <a:pPr algn="l">
              <a:spcAft>
                <a:spcPts val="0"/>
              </a:spcAft>
            </a:pPr>
            <a:r>
              <a:rPr sz="3100" b="1">
                <a:solidFill>
                  <a:srgbClr val="160A3B"/>
                </a:solidFill>
                <a:latin typeface="Aptos Display"/>
              </a:rPr>
              <a:t>(Dampak pada Proses)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584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F4E70"/>
                </a:solidFill>
                <a:latin typeface="Aptos"/>
              </a:rPr>
              <a:t>Perubahan pada pelaksanaan proses procurement setelah digitalisasi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1700784"/>
            <a:ext cx="2304288" cy="3913632"/>
          </a:xfrm>
          <a:prstGeom prst="roundRect">
            <a:avLst>
              <a:gd name="adj" fmla="val 6000"/>
            </a:avLst>
          </a:prstGeom>
          <a:solidFill>
            <a:srgbClr val="F8F4FF"/>
          </a:solidFill>
          <a:ln w="127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5" name="editable-icon-BANK"/>
          <p:cNvGrpSpPr/>
          <p:nvPr/>
        </p:nvGrpSpPr>
        <p:grpSpPr>
          <a:xfrm>
            <a:off x="1344168" y="1764792"/>
            <a:ext cx="749808" cy="749808"/>
            <a:chOff x="1344168" y="1764792"/>
            <a:chExt cx="749808" cy="749808"/>
          </a:xfrm>
        </p:grpSpPr>
        <p:sp>
          <p:nvSpPr>
            <p:cNvPr id="38" name="Oval 37"/>
            <p:cNvSpPr/>
            <p:nvPr/>
          </p:nvSpPr>
          <p:spPr>
            <a:xfrm>
              <a:off x="1344168" y="1764792"/>
              <a:ext cx="749808" cy="749808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sosceles Triangle 38"/>
            <p:cNvSpPr/>
            <p:nvPr/>
          </p:nvSpPr>
          <p:spPr>
            <a:xfrm>
              <a:off x="1531619" y="1959742"/>
              <a:ext cx="374904" cy="149961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524121" y="2102205"/>
              <a:ext cx="389900" cy="44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565361" y="2154692"/>
              <a:ext cx="52486" cy="1799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692828" y="2154692"/>
              <a:ext cx="52486" cy="1799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820296" y="2154692"/>
              <a:ext cx="52486" cy="1799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01627" y="2349642"/>
              <a:ext cx="434888" cy="524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13232" y="2633472"/>
            <a:ext cx="20116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40" b="1">
                <a:solidFill>
                  <a:srgbClr val="5E35B1"/>
                </a:solidFill>
                <a:latin typeface="Aptos"/>
              </a:rPr>
              <a:t>Sebelum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4672" y="2999232"/>
            <a:ext cx="1828800" cy="0"/>
          </a:xfrm>
          <a:prstGeom prst="line">
            <a:avLst/>
          </a:prstGeom>
          <a:ln w="1524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editable-icon-DOC"/>
          <p:cNvGrpSpPr/>
          <p:nvPr/>
        </p:nvGrpSpPr>
        <p:grpSpPr>
          <a:xfrm>
            <a:off x="795528" y="3227832"/>
            <a:ext cx="274320" cy="274320"/>
            <a:chOff x="795528" y="3227832"/>
            <a:chExt cx="274320" cy="274320"/>
          </a:xfrm>
        </p:grpSpPr>
        <p:sp>
          <p:nvSpPr>
            <p:cNvPr id="48" name="Oval 47"/>
            <p:cNvSpPr/>
            <p:nvPr/>
          </p:nvSpPr>
          <p:spPr>
            <a:xfrm>
              <a:off x="795528" y="3227832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83310" y="3290925"/>
              <a:ext cx="98755" cy="148132"/>
            </a:xfrm>
            <a:prstGeom prst="rect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905256" y="3348532"/>
              <a:ext cx="54864" cy="0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905256" y="3381451"/>
              <a:ext cx="54864" cy="0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905256" y="3414369"/>
              <a:ext cx="41147" cy="0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/>
          <p:cNvSpPr txBox="1"/>
          <p:nvPr/>
        </p:nvSpPr>
        <p:spPr>
          <a:xfrm>
            <a:off x="1225295" y="3209544"/>
            <a:ext cx="151790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Proses manual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8096" y="3611880"/>
            <a:ext cx="1901952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editable-icon-FOL"/>
          <p:cNvGrpSpPr/>
          <p:nvPr/>
        </p:nvGrpSpPr>
        <p:grpSpPr>
          <a:xfrm>
            <a:off x="795528" y="3721608"/>
            <a:ext cx="274320" cy="274320"/>
            <a:chOff x="795528" y="3721608"/>
            <a:chExt cx="274320" cy="274320"/>
          </a:xfrm>
        </p:grpSpPr>
        <p:sp>
          <p:nvSpPr>
            <p:cNvPr id="56" name="Oval 55"/>
            <p:cNvSpPr/>
            <p:nvPr/>
          </p:nvSpPr>
          <p:spPr>
            <a:xfrm>
              <a:off x="795528" y="3721608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58621" y="3831336"/>
              <a:ext cx="148132" cy="877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4108" y="3803904"/>
              <a:ext cx="76809" cy="329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225295" y="3703320"/>
            <a:ext cx="151790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Informasi tersebar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di banyak tempat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68096" y="4105656"/>
            <a:ext cx="1901952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editable-icon-MSG"/>
          <p:cNvGrpSpPr/>
          <p:nvPr/>
        </p:nvGrpSpPr>
        <p:grpSpPr>
          <a:xfrm>
            <a:off x="795528" y="4215383"/>
            <a:ext cx="274320" cy="274320"/>
            <a:chOff x="795528" y="4215383"/>
            <a:chExt cx="274320" cy="274320"/>
          </a:xfrm>
        </p:grpSpPr>
        <p:sp>
          <p:nvSpPr>
            <p:cNvPr id="62" name="Oval 61"/>
            <p:cNvSpPr/>
            <p:nvPr/>
          </p:nvSpPr>
          <p:spPr>
            <a:xfrm>
              <a:off x="795528" y="4215383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55878" y="4303166"/>
              <a:ext cx="153619" cy="98755"/>
            </a:xfrm>
            <a:prstGeom prst="rect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858621" y="4305909"/>
              <a:ext cx="74067" cy="57607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 flipH="1">
              <a:off x="932688" y="4305909"/>
              <a:ext cx="74066" cy="57607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/>
          <p:cNvSpPr txBox="1"/>
          <p:nvPr/>
        </p:nvSpPr>
        <p:spPr>
          <a:xfrm>
            <a:off x="1225295" y="4197096"/>
            <a:ext cx="151790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Dokumen &amp; komunikasi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tidak terintegrasi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68096" y="4599431"/>
            <a:ext cx="1901952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editable-icon-!"/>
          <p:cNvGrpSpPr/>
          <p:nvPr/>
        </p:nvGrpSpPr>
        <p:grpSpPr>
          <a:xfrm>
            <a:off x="795528" y="4709160"/>
            <a:ext cx="274320" cy="274320"/>
            <a:chOff x="795528" y="4709160"/>
            <a:chExt cx="274320" cy="274320"/>
          </a:xfrm>
        </p:grpSpPr>
        <p:sp>
          <p:nvSpPr>
            <p:cNvPr id="69" name="Oval 68"/>
            <p:cNvSpPr/>
            <p:nvPr/>
          </p:nvSpPr>
          <p:spPr>
            <a:xfrm>
              <a:off x="795528" y="4709160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Isosceles Triangle 69"/>
            <p:cNvSpPr/>
            <p:nvPr/>
          </p:nvSpPr>
          <p:spPr>
            <a:xfrm>
              <a:off x="864108" y="4777740"/>
              <a:ext cx="137160" cy="137160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16228" y="4799685"/>
              <a:ext cx="32918" cy="71323"/>
            </a:xfrm>
            <a:prstGeom prst="rect">
              <a:avLst/>
            </a:prstGeom>
            <a:noFill/>
          </p:spPr>
          <p:txBody>
            <a:bodyPr wrap="square" anchor="t" lIns="18288" rIns="18288" tIns="9144" bIns="9144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Aptos"/>
                </a:rPr>
                <a:t>!</a:t>
              </a: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1225295" y="4690872"/>
            <a:ext cx="151790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Sulit dilacak &amp;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rawan kesalahan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68096" y="5093208"/>
            <a:ext cx="1901952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editable-icon-BAR"/>
          <p:cNvGrpSpPr/>
          <p:nvPr/>
        </p:nvGrpSpPr>
        <p:grpSpPr>
          <a:xfrm>
            <a:off x="795528" y="5202936"/>
            <a:ext cx="274320" cy="274320"/>
            <a:chOff x="795528" y="5202936"/>
            <a:chExt cx="274320" cy="274320"/>
          </a:xfrm>
        </p:grpSpPr>
        <p:sp>
          <p:nvSpPr>
            <p:cNvPr id="75" name="Oval 74"/>
            <p:cNvSpPr/>
            <p:nvPr/>
          </p:nvSpPr>
          <p:spPr>
            <a:xfrm>
              <a:off x="795528" y="5202936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877824" y="5348325"/>
              <a:ext cx="27432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24458" y="5318150"/>
              <a:ext cx="27432" cy="85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71092" y="5285232"/>
              <a:ext cx="27432" cy="1179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ight Arrow 78"/>
            <p:cNvSpPr/>
            <p:nvPr/>
          </p:nvSpPr>
          <p:spPr>
            <a:xfrm rot="19200000">
              <a:off x="897026" y="5268772"/>
              <a:ext cx="115214" cy="32918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225295" y="5184648"/>
            <a:ext cx="151790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Keputusan berbasis data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terbatas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2962656" y="3401568"/>
            <a:ext cx="640080" cy="402336"/>
          </a:xfrm>
          <a:prstGeom prst="rightArrow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675887" y="1700784"/>
            <a:ext cx="2651760" cy="3913632"/>
          </a:xfrm>
          <a:prstGeom prst="roundRect">
            <a:avLst>
              <a:gd name="adj" fmla="val 6000"/>
            </a:avLst>
          </a:prstGeom>
          <a:solidFill>
            <a:srgbClr val="F8F4FF"/>
          </a:solidFill>
          <a:ln w="127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" name="editable-icon-MON"/>
          <p:cNvGrpSpPr/>
          <p:nvPr/>
        </p:nvGrpSpPr>
        <p:grpSpPr>
          <a:xfrm>
            <a:off x="4626864" y="1764792"/>
            <a:ext cx="749808" cy="749808"/>
            <a:chOff x="4626864" y="1764792"/>
            <a:chExt cx="749808" cy="749808"/>
          </a:xfrm>
        </p:grpSpPr>
        <p:sp>
          <p:nvSpPr>
            <p:cNvPr id="84" name="Oval 83"/>
            <p:cNvSpPr/>
            <p:nvPr/>
          </p:nvSpPr>
          <p:spPr>
            <a:xfrm>
              <a:off x="4626864" y="1764792"/>
              <a:ext cx="749808" cy="749808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4821814" y="2004730"/>
              <a:ext cx="359907" cy="254934"/>
            </a:xfrm>
            <a:prstGeom prst="rect">
              <a:avLst/>
            </a:prstGeom>
            <a:noFill/>
            <a:ln w="177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Connector 85"/>
            <p:cNvCxnSpPr/>
            <p:nvPr/>
          </p:nvCxnSpPr>
          <p:spPr>
            <a:xfrm>
              <a:off x="4941783" y="2327148"/>
              <a:ext cx="119969" cy="0"/>
            </a:xfrm>
            <a:prstGeom prst="line">
              <a:avLst/>
            </a:prstGeom>
            <a:ln w="1651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>
              <a:off x="5001768" y="2259665"/>
              <a:ext cx="0" cy="67483"/>
            </a:xfrm>
            <a:prstGeom prst="line">
              <a:avLst/>
            </a:prstGeom>
            <a:ln w="1651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4941783" y="2132197"/>
              <a:ext cx="52486" cy="59985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 flipV="1">
              <a:off x="4994269" y="2079711"/>
              <a:ext cx="97475" cy="112471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/>
          <p:cNvSpPr txBox="1"/>
          <p:nvPr/>
        </p:nvSpPr>
        <p:spPr>
          <a:xfrm>
            <a:off x="3822191" y="2633472"/>
            <a:ext cx="2359152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40" b="1">
                <a:solidFill>
                  <a:srgbClr val="5E35B1"/>
                </a:solidFill>
                <a:latin typeface="Aptos"/>
              </a:rPr>
              <a:t>Sesudah digitalisasi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913631" y="2999232"/>
            <a:ext cx="2176273" cy="0"/>
          </a:xfrm>
          <a:prstGeom prst="line">
            <a:avLst/>
          </a:prstGeom>
          <a:ln w="1524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editable-icon-SPD"/>
          <p:cNvGrpSpPr/>
          <p:nvPr/>
        </p:nvGrpSpPr>
        <p:grpSpPr>
          <a:xfrm>
            <a:off x="3904487" y="3227832"/>
            <a:ext cx="274320" cy="274320"/>
            <a:chOff x="3904487" y="3227832"/>
            <a:chExt cx="274320" cy="274320"/>
          </a:xfrm>
        </p:grpSpPr>
        <p:sp>
          <p:nvSpPr>
            <p:cNvPr id="93" name="Oval 92"/>
            <p:cNvSpPr/>
            <p:nvPr/>
          </p:nvSpPr>
          <p:spPr>
            <a:xfrm>
              <a:off x="3904487" y="3227832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Arc 93"/>
            <p:cNvSpPr/>
            <p:nvPr/>
          </p:nvSpPr>
          <p:spPr>
            <a:xfrm>
              <a:off x="3964838" y="3315614"/>
              <a:ext cx="153619" cy="115214"/>
            </a:xfrm>
            <a:prstGeom prst="arc">
              <a:avLst/>
            </a:prstGeom>
            <a:ln w="2159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 flipV="1">
              <a:off x="4041648" y="3326587"/>
              <a:ext cx="54863" cy="54864"/>
            </a:xfrm>
            <a:prstGeom prst="line">
              <a:avLst/>
            </a:prstGeom>
            <a:ln w="228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4030675" y="3370478"/>
              <a:ext cx="21945" cy="219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6"/>
            <p:cNvCxnSpPr/>
            <p:nvPr/>
          </p:nvCxnSpPr>
          <p:spPr>
            <a:xfrm flipV="1">
              <a:off x="3981297" y="3374428"/>
              <a:ext cx="8449" cy="1536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4008729" y="3332073"/>
              <a:ext cx="4609" cy="4609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 flipH="1">
              <a:off x="4069957" y="3332073"/>
              <a:ext cx="4609" cy="4609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4093549" y="3374428"/>
              <a:ext cx="8449" cy="1536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/>
          <p:cNvSpPr txBox="1"/>
          <p:nvPr/>
        </p:nvSpPr>
        <p:spPr>
          <a:xfrm>
            <a:off x="4334255" y="3209544"/>
            <a:ext cx="1865376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Proses lebih cepat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dan efisien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877055" y="3611880"/>
            <a:ext cx="2249425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editable-icon-EYE"/>
          <p:cNvGrpSpPr/>
          <p:nvPr/>
        </p:nvGrpSpPr>
        <p:grpSpPr>
          <a:xfrm>
            <a:off x="3904487" y="3721608"/>
            <a:ext cx="274320" cy="274320"/>
            <a:chOff x="3904487" y="3721608"/>
            <a:chExt cx="274320" cy="274320"/>
          </a:xfrm>
        </p:grpSpPr>
        <p:sp>
          <p:nvSpPr>
            <p:cNvPr id="104" name="Oval 103"/>
            <p:cNvSpPr/>
            <p:nvPr/>
          </p:nvSpPr>
          <p:spPr>
            <a:xfrm>
              <a:off x="3904487" y="3721608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3964838" y="3820363"/>
              <a:ext cx="153619" cy="76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4014215" y="3831336"/>
              <a:ext cx="54864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4334255" y="3703320"/>
            <a:ext cx="1865376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Transparansi &amp; visibilitas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meningkat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877055" y="4105656"/>
            <a:ext cx="2249425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6" name="editable-icon-CHK"/>
          <p:cNvGrpSpPr/>
          <p:nvPr/>
        </p:nvGrpSpPr>
        <p:grpSpPr>
          <a:xfrm>
            <a:off x="3904487" y="4215383"/>
            <a:ext cx="274320" cy="274320"/>
            <a:chOff x="3904487" y="4215383"/>
            <a:chExt cx="274320" cy="274320"/>
          </a:xfrm>
        </p:grpSpPr>
        <p:sp>
          <p:nvSpPr>
            <p:cNvPr id="110" name="Oval 109"/>
            <p:cNvSpPr/>
            <p:nvPr/>
          </p:nvSpPr>
          <p:spPr>
            <a:xfrm>
              <a:off x="3904487" y="4215383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3986784" y="4278477"/>
              <a:ext cx="109728" cy="148132"/>
            </a:xfrm>
            <a:prstGeom prst="rect">
              <a:avLst/>
            </a:prstGeom>
            <a:noFill/>
            <a:ln w="177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014215" y="4267504"/>
              <a:ext cx="54864" cy="27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3" name="Connector 112"/>
            <p:cNvCxnSpPr/>
            <p:nvPr/>
          </p:nvCxnSpPr>
          <p:spPr>
            <a:xfrm>
              <a:off x="4014215" y="4347057"/>
              <a:ext cx="13717" cy="16459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or 113"/>
            <p:cNvCxnSpPr/>
            <p:nvPr/>
          </p:nvCxnSpPr>
          <p:spPr>
            <a:xfrm flipV="1">
              <a:off x="4027932" y="4325112"/>
              <a:ext cx="35661" cy="38404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114"/>
            <p:cNvCxnSpPr/>
            <p:nvPr/>
          </p:nvCxnSpPr>
          <p:spPr>
            <a:xfrm>
              <a:off x="4014215" y="4393692"/>
              <a:ext cx="54865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/>
          <p:cNvSpPr txBox="1"/>
          <p:nvPr/>
        </p:nvSpPr>
        <p:spPr>
          <a:xfrm>
            <a:off x="4334255" y="4197096"/>
            <a:ext cx="1865376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Standardisasi &amp; kepatuhan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meningkat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877055" y="4599431"/>
            <a:ext cx="2249425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" name="editable-icon-HND"/>
          <p:cNvGrpSpPr/>
          <p:nvPr/>
        </p:nvGrpSpPr>
        <p:grpSpPr>
          <a:xfrm>
            <a:off x="3904487" y="4709160"/>
            <a:ext cx="274320" cy="274320"/>
            <a:chOff x="3904487" y="4709160"/>
            <a:chExt cx="274320" cy="274320"/>
          </a:xfrm>
        </p:grpSpPr>
        <p:sp>
          <p:nvSpPr>
            <p:cNvPr id="119" name="Oval 118"/>
            <p:cNvSpPr/>
            <p:nvPr/>
          </p:nvSpPr>
          <p:spPr>
            <a:xfrm>
              <a:off x="3904487" y="4709160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hevron 119"/>
            <p:cNvSpPr/>
            <p:nvPr/>
          </p:nvSpPr>
          <p:spPr>
            <a:xfrm>
              <a:off x="3956608" y="4824374"/>
              <a:ext cx="71323" cy="49377"/>
            </a:xfrm>
            <a:prstGeom prst="chevro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hevron 120"/>
            <p:cNvSpPr/>
            <p:nvPr/>
          </p:nvSpPr>
          <p:spPr>
            <a:xfrm rot="10800000">
              <a:off x="4055363" y="4824374"/>
              <a:ext cx="71323" cy="49377"/>
            </a:xfrm>
            <a:prstGeom prst="chevro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2" name="Connector 121"/>
            <p:cNvCxnSpPr/>
            <p:nvPr/>
          </p:nvCxnSpPr>
          <p:spPr>
            <a:xfrm>
              <a:off x="4008729" y="4835347"/>
              <a:ext cx="65837" cy="38405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 flipV="1">
              <a:off x="4027932" y="4824374"/>
              <a:ext cx="49377" cy="35662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>
              <a:off x="3995013" y="4868265"/>
              <a:ext cx="11659" cy="35662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>
              <a:off x="4014215" y="4868265"/>
              <a:ext cx="6859" cy="35662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4062222" y="4868265"/>
              <a:ext cx="6858" cy="35662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4076623" y="4868265"/>
              <a:ext cx="11659" cy="35662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Box 128"/>
          <p:cNvSpPr txBox="1"/>
          <p:nvPr/>
        </p:nvSpPr>
        <p:spPr>
          <a:xfrm>
            <a:off x="4334255" y="4690872"/>
            <a:ext cx="1865376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Kolaborasi dengan pemasok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lebih efektif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877055" y="5093208"/>
            <a:ext cx="2249425" cy="0"/>
          </a:xfrm>
          <a:prstGeom prst="line">
            <a:avLst/>
          </a:prstGeom>
          <a:ln w="6350">
            <a:solidFill>
              <a:srgbClr val="E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3" name="editable-icon-DB"/>
          <p:cNvGrpSpPr/>
          <p:nvPr/>
        </p:nvGrpSpPr>
        <p:grpSpPr>
          <a:xfrm>
            <a:off x="3904487" y="5202936"/>
            <a:ext cx="274320" cy="274320"/>
            <a:chOff x="3904487" y="5202936"/>
            <a:chExt cx="274320" cy="274320"/>
          </a:xfrm>
        </p:grpSpPr>
        <p:sp>
          <p:nvSpPr>
            <p:cNvPr id="131" name="Oval 130"/>
            <p:cNvSpPr/>
            <p:nvPr/>
          </p:nvSpPr>
          <p:spPr>
            <a:xfrm>
              <a:off x="3904487" y="5202936"/>
              <a:ext cx="274320" cy="27432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Can 131"/>
            <p:cNvSpPr/>
            <p:nvPr/>
          </p:nvSpPr>
          <p:spPr>
            <a:xfrm>
              <a:off x="3975811" y="5268772"/>
              <a:ext cx="131673" cy="142646"/>
            </a:xfrm>
            <a:prstGeom prst="ca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4" name="TextBox 133"/>
          <p:cNvSpPr txBox="1"/>
          <p:nvPr/>
        </p:nvSpPr>
        <p:spPr>
          <a:xfrm>
            <a:off x="4334255" y="5184648"/>
            <a:ext cx="1865376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Kualitas data &amp; informasi</a:t>
            </a:r>
          </a:p>
          <a:p>
            <a:pPr algn="l">
              <a:spcAft>
                <a:spcPts val="0"/>
              </a:spcAft>
            </a:pPr>
            <a:r>
              <a:rPr sz="1019" b="1">
                <a:solidFill>
                  <a:srgbClr val="172033"/>
                </a:solidFill>
                <a:latin typeface="Aptos"/>
              </a:rPr>
              <a:t>meningkat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903720" y="1609344"/>
            <a:ext cx="464515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0" name="editable-icon-TIME"/>
          <p:cNvGrpSpPr/>
          <p:nvPr/>
        </p:nvGrpSpPr>
        <p:grpSpPr>
          <a:xfrm>
            <a:off x="7150608" y="1673352"/>
            <a:ext cx="603504" cy="603504"/>
            <a:chOff x="7150608" y="1673352"/>
            <a:chExt cx="603504" cy="603504"/>
          </a:xfrm>
        </p:grpSpPr>
        <p:sp>
          <p:nvSpPr>
            <p:cNvPr id="136" name="Oval 135"/>
            <p:cNvSpPr/>
            <p:nvPr/>
          </p:nvSpPr>
          <p:spPr>
            <a:xfrm>
              <a:off x="7150608" y="1673352"/>
              <a:ext cx="603504" cy="603504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7295448" y="1818192"/>
              <a:ext cx="313822" cy="313822"/>
            </a:xfrm>
            <a:prstGeom prst="ellipse">
              <a:avLst/>
            </a:prstGeom>
            <a:noFill/>
            <a:ln w="2159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8" name="Connector 137"/>
            <p:cNvCxnSpPr/>
            <p:nvPr/>
          </p:nvCxnSpPr>
          <p:spPr>
            <a:xfrm flipV="1">
              <a:off x="7452360" y="1878543"/>
              <a:ext cx="0" cy="96561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38"/>
            <p:cNvCxnSpPr/>
            <p:nvPr/>
          </p:nvCxnSpPr>
          <p:spPr>
            <a:xfrm>
              <a:off x="7452360" y="1975104"/>
              <a:ext cx="84490" cy="60350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Connector 140"/>
          <p:cNvCxnSpPr/>
          <p:nvPr/>
        </p:nvCxnSpPr>
        <p:spPr>
          <a:xfrm>
            <a:off x="8028431" y="1737360"/>
            <a:ext cx="0" cy="475488"/>
          </a:xfrm>
          <a:prstGeom prst="line">
            <a:avLst/>
          </a:prstGeom>
          <a:ln w="11430">
            <a:solidFill>
              <a:srgbClr val="D1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8215883" y="1815084"/>
            <a:ext cx="320040" cy="32004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732520" y="1700784"/>
            <a:ext cx="25146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Proses lebih cepat</a:t>
            </a:r>
          </a:p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(cycle time berkurang)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732520" y="2103120"/>
            <a:ext cx="25146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72033"/>
                </a:solidFill>
                <a:latin typeface="Aptos"/>
              </a:rPr>
              <a:t>(Shen et al., 2014)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903720" y="2441448"/>
            <a:ext cx="464515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9" name="editable-icon-EYE"/>
          <p:cNvGrpSpPr/>
          <p:nvPr/>
        </p:nvGrpSpPr>
        <p:grpSpPr>
          <a:xfrm>
            <a:off x="7150608" y="2505456"/>
            <a:ext cx="603504" cy="603504"/>
            <a:chOff x="7150608" y="2505456"/>
            <a:chExt cx="603504" cy="603504"/>
          </a:xfrm>
        </p:grpSpPr>
        <p:sp>
          <p:nvSpPr>
            <p:cNvPr id="146" name="Oval 145"/>
            <p:cNvSpPr/>
            <p:nvPr/>
          </p:nvSpPr>
          <p:spPr>
            <a:xfrm>
              <a:off x="7150608" y="2505456"/>
              <a:ext cx="603504" cy="603504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7283378" y="2722717"/>
              <a:ext cx="337962" cy="16898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7392009" y="2746857"/>
              <a:ext cx="120700" cy="120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50" name="Connector 149"/>
          <p:cNvCxnSpPr/>
          <p:nvPr/>
        </p:nvCxnSpPr>
        <p:spPr>
          <a:xfrm>
            <a:off x="8028431" y="2569464"/>
            <a:ext cx="0" cy="475488"/>
          </a:xfrm>
          <a:prstGeom prst="line">
            <a:avLst/>
          </a:prstGeom>
          <a:ln w="11430">
            <a:solidFill>
              <a:srgbClr val="D1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8215883" y="2647188"/>
            <a:ext cx="320040" cy="32004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2532888"/>
            <a:ext cx="25146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Transparansi &amp; visibilitas</a:t>
            </a:r>
          </a:p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proses meningkat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32520" y="2935224"/>
            <a:ext cx="25146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72033"/>
                </a:solidFill>
                <a:latin typeface="Aptos"/>
              </a:rPr>
              <a:t>(Croom &amp; Brandon-Jones, 2007)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903720" y="3273552"/>
            <a:ext cx="464515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61" name="editable-icon-CHK"/>
          <p:cNvGrpSpPr/>
          <p:nvPr/>
        </p:nvGrpSpPr>
        <p:grpSpPr>
          <a:xfrm>
            <a:off x="7150608" y="3337560"/>
            <a:ext cx="603504" cy="603504"/>
            <a:chOff x="7150608" y="3337560"/>
            <a:chExt cx="603504" cy="603504"/>
          </a:xfrm>
        </p:grpSpPr>
        <p:sp>
          <p:nvSpPr>
            <p:cNvPr id="155" name="Oval 154"/>
            <p:cNvSpPr/>
            <p:nvPr/>
          </p:nvSpPr>
          <p:spPr>
            <a:xfrm>
              <a:off x="7150608" y="3337560"/>
              <a:ext cx="603504" cy="603504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331659" y="3476365"/>
              <a:ext cx="241401" cy="325892"/>
            </a:xfrm>
            <a:prstGeom prst="rect">
              <a:avLst/>
            </a:prstGeom>
            <a:noFill/>
            <a:ln w="177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392009" y="3452225"/>
              <a:ext cx="120700" cy="60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8" name="Connector 157"/>
            <p:cNvCxnSpPr/>
            <p:nvPr/>
          </p:nvCxnSpPr>
          <p:spPr>
            <a:xfrm>
              <a:off x="7392009" y="3627241"/>
              <a:ext cx="30175" cy="3621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58"/>
            <p:cNvCxnSpPr/>
            <p:nvPr/>
          </p:nvCxnSpPr>
          <p:spPr>
            <a:xfrm flipV="1">
              <a:off x="7422184" y="3578961"/>
              <a:ext cx="78456" cy="8449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>
              <a:off x="7392009" y="3729837"/>
              <a:ext cx="120701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Connector 161"/>
          <p:cNvCxnSpPr/>
          <p:nvPr/>
        </p:nvCxnSpPr>
        <p:spPr>
          <a:xfrm>
            <a:off x="8028431" y="3401568"/>
            <a:ext cx="0" cy="475488"/>
          </a:xfrm>
          <a:prstGeom prst="line">
            <a:avLst/>
          </a:prstGeom>
          <a:ln w="11430">
            <a:solidFill>
              <a:srgbClr val="D1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8215883" y="3479292"/>
            <a:ext cx="320040" cy="32004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732520" y="3364992"/>
            <a:ext cx="25146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Standardisasi &amp; kepatuhan</a:t>
            </a:r>
          </a:p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proses meningkat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32520" y="3767328"/>
            <a:ext cx="25146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72033"/>
                </a:solidFill>
                <a:latin typeface="Aptos"/>
              </a:rPr>
              <a:t>(OECD, 2016)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903720" y="4105656"/>
            <a:ext cx="464515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4" name="editable-icon-TEAM"/>
          <p:cNvGrpSpPr/>
          <p:nvPr/>
        </p:nvGrpSpPr>
        <p:grpSpPr>
          <a:xfrm>
            <a:off x="7150608" y="4169664"/>
            <a:ext cx="603504" cy="603504"/>
            <a:chOff x="7150608" y="4169664"/>
            <a:chExt cx="603504" cy="603504"/>
          </a:xfrm>
        </p:grpSpPr>
        <p:sp>
          <p:nvSpPr>
            <p:cNvPr id="167" name="Oval 166"/>
            <p:cNvSpPr/>
            <p:nvPr/>
          </p:nvSpPr>
          <p:spPr>
            <a:xfrm>
              <a:off x="7150608" y="4169664"/>
              <a:ext cx="603504" cy="603504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val 167"/>
            <p:cNvSpPr/>
            <p:nvPr/>
          </p:nvSpPr>
          <p:spPr>
            <a:xfrm>
              <a:off x="7301484" y="4374855"/>
              <a:ext cx="96560" cy="96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val 168"/>
            <p:cNvSpPr/>
            <p:nvPr/>
          </p:nvSpPr>
          <p:spPr>
            <a:xfrm>
              <a:off x="7506675" y="4374855"/>
              <a:ext cx="96560" cy="96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val 169"/>
            <p:cNvSpPr/>
            <p:nvPr/>
          </p:nvSpPr>
          <p:spPr>
            <a:xfrm>
              <a:off x="7392009" y="4314504"/>
              <a:ext cx="120700" cy="120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val 170"/>
            <p:cNvSpPr/>
            <p:nvPr/>
          </p:nvSpPr>
          <p:spPr>
            <a:xfrm>
              <a:off x="7280361" y="4504608"/>
              <a:ext cx="138805" cy="1025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val 171"/>
            <p:cNvSpPr/>
            <p:nvPr/>
          </p:nvSpPr>
          <p:spPr>
            <a:xfrm>
              <a:off x="7485552" y="4504608"/>
              <a:ext cx="138805" cy="1025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val 172"/>
            <p:cNvSpPr/>
            <p:nvPr/>
          </p:nvSpPr>
          <p:spPr>
            <a:xfrm>
              <a:off x="7364851" y="4486503"/>
              <a:ext cx="175016" cy="1267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5" name="Connector 174"/>
          <p:cNvCxnSpPr/>
          <p:nvPr/>
        </p:nvCxnSpPr>
        <p:spPr>
          <a:xfrm>
            <a:off x="8028431" y="4233672"/>
            <a:ext cx="0" cy="475488"/>
          </a:xfrm>
          <a:prstGeom prst="line">
            <a:avLst/>
          </a:prstGeom>
          <a:ln w="11430">
            <a:solidFill>
              <a:srgbClr val="D1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8215883" y="4311396"/>
            <a:ext cx="320040" cy="32004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732520" y="4197096"/>
            <a:ext cx="25146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Kolaborasi dengan pemasok</a:t>
            </a:r>
          </a:p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lebih efektif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732520" y="4599432"/>
            <a:ext cx="25146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72033"/>
                </a:solidFill>
                <a:latin typeface="Aptos"/>
              </a:rPr>
              <a:t>(Handfield et al., 2015)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903720" y="4937760"/>
            <a:ext cx="4645152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82" name="editable-icon-DB"/>
          <p:cNvGrpSpPr/>
          <p:nvPr/>
        </p:nvGrpSpPr>
        <p:grpSpPr>
          <a:xfrm>
            <a:off x="7150608" y="5001768"/>
            <a:ext cx="603504" cy="603504"/>
            <a:chOff x="7150608" y="5001768"/>
            <a:chExt cx="603504" cy="603504"/>
          </a:xfrm>
        </p:grpSpPr>
        <p:sp>
          <p:nvSpPr>
            <p:cNvPr id="180" name="Oval 179"/>
            <p:cNvSpPr/>
            <p:nvPr/>
          </p:nvSpPr>
          <p:spPr>
            <a:xfrm>
              <a:off x="7150608" y="5001768"/>
              <a:ext cx="603504" cy="603504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an 180"/>
            <p:cNvSpPr/>
            <p:nvPr/>
          </p:nvSpPr>
          <p:spPr>
            <a:xfrm>
              <a:off x="7307519" y="5146608"/>
              <a:ext cx="289681" cy="313822"/>
            </a:xfrm>
            <a:prstGeom prst="ca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83" name="Connector 182"/>
          <p:cNvCxnSpPr/>
          <p:nvPr/>
        </p:nvCxnSpPr>
        <p:spPr>
          <a:xfrm>
            <a:off x="8028431" y="5065776"/>
            <a:ext cx="0" cy="475488"/>
          </a:xfrm>
          <a:prstGeom prst="line">
            <a:avLst/>
          </a:prstGeom>
          <a:ln w="11430">
            <a:solidFill>
              <a:srgbClr val="D1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8215883" y="5143500"/>
            <a:ext cx="320040" cy="32004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732520" y="5029200"/>
            <a:ext cx="25146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Kualitas data &amp; informasi</a:t>
            </a:r>
          </a:p>
          <a:p>
            <a:pPr algn="l">
              <a:spcAft>
                <a:spcPts val="0"/>
              </a:spcAft>
            </a:pPr>
            <a:r>
              <a:rPr sz="1280" b="1">
                <a:solidFill>
                  <a:srgbClr val="172033"/>
                </a:solidFill>
                <a:latin typeface="Aptos"/>
              </a:rPr>
              <a:t>meningkat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732520" y="5431536"/>
            <a:ext cx="25146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72033"/>
                </a:solidFill>
                <a:latin typeface="Aptos"/>
              </a:rPr>
              <a:t>(Schonberger, 2016)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66928" y="5879592"/>
            <a:ext cx="10981944" cy="822960"/>
          </a:xfrm>
          <a:prstGeom prst="roundRect">
            <a:avLst>
              <a:gd name="adj" fmla="val 5000"/>
            </a:avLst>
          </a:prstGeom>
          <a:solidFill>
            <a:srgbClr val="5E35B1"/>
          </a:solidFill>
          <a:ln w="12700">
            <a:solidFill>
              <a:srgbClr val="160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7" name="editable-icon-IDEA"/>
          <p:cNvGrpSpPr/>
          <p:nvPr/>
        </p:nvGrpSpPr>
        <p:grpSpPr>
          <a:xfrm>
            <a:off x="1207007" y="5943600"/>
            <a:ext cx="694944" cy="694944"/>
            <a:chOff x="1207007" y="5943600"/>
            <a:chExt cx="694944" cy="694944"/>
          </a:xfrm>
        </p:grpSpPr>
        <p:sp>
          <p:nvSpPr>
            <p:cNvPr id="188" name="Oval 187"/>
            <p:cNvSpPr/>
            <p:nvPr/>
          </p:nvSpPr>
          <p:spPr>
            <a:xfrm>
              <a:off x="1207007" y="5943600"/>
              <a:ext cx="694944" cy="6949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Oval 188"/>
            <p:cNvSpPr/>
            <p:nvPr/>
          </p:nvSpPr>
          <p:spPr>
            <a:xfrm>
              <a:off x="1450238" y="6124285"/>
              <a:ext cx="208483" cy="222382"/>
            </a:xfrm>
            <a:prstGeom prst="ellipse">
              <a:avLst/>
            </a:prstGeom>
            <a:noFill/>
            <a:ln w="17780">
              <a:solidFill>
                <a:srgbClr val="5E35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1484985" y="6346667"/>
              <a:ext cx="138988" cy="55595"/>
            </a:xfrm>
            <a:prstGeom prst="rect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505833" y="6416161"/>
              <a:ext cx="97292" cy="41696"/>
            </a:xfrm>
            <a:prstGeom prst="rect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2" name="Connector 191"/>
            <p:cNvCxnSpPr/>
            <p:nvPr/>
          </p:nvCxnSpPr>
          <p:spPr>
            <a:xfrm flipH="1" flipV="1">
              <a:off x="1359895" y="6165982"/>
              <a:ext cx="54484" cy="35025"/>
            </a:xfrm>
            <a:prstGeom prst="line">
              <a:avLst/>
            </a:prstGeom>
            <a:ln w="12700">
              <a:solidFill>
                <a:srgbClr val="5E35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ctor 192"/>
            <p:cNvCxnSpPr/>
            <p:nvPr/>
          </p:nvCxnSpPr>
          <p:spPr>
            <a:xfrm flipV="1">
              <a:off x="1694580" y="6165982"/>
              <a:ext cx="54484" cy="35025"/>
            </a:xfrm>
            <a:prstGeom prst="line">
              <a:avLst/>
            </a:prstGeom>
            <a:ln w="12700">
              <a:solidFill>
                <a:srgbClr val="5E35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or 193"/>
            <p:cNvCxnSpPr/>
            <p:nvPr/>
          </p:nvCxnSpPr>
          <p:spPr>
            <a:xfrm flipH="1">
              <a:off x="1332097" y="6301079"/>
              <a:ext cx="62267" cy="3891"/>
            </a:xfrm>
            <a:prstGeom prst="line">
              <a:avLst/>
            </a:prstGeom>
            <a:ln w="12700">
              <a:solidFill>
                <a:srgbClr val="5E35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ctor 194"/>
            <p:cNvCxnSpPr/>
            <p:nvPr/>
          </p:nvCxnSpPr>
          <p:spPr>
            <a:xfrm>
              <a:off x="1714595" y="6301079"/>
              <a:ext cx="62267" cy="3891"/>
            </a:xfrm>
            <a:prstGeom prst="line">
              <a:avLst/>
            </a:prstGeom>
            <a:ln w="12700">
              <a:solidFill>
                <a:srgbClr val="5E35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5"/>
            <p:cNvCxnSpPr/>
            <p:nvPr/>
          </p:nvCxnSpPr>
          <p:spPr>
            <a:xfrm flipV="1">
              <a:off x="1554480" y="6047841"/>
              <a:ext cx="0" cy="68105"/>
            </a:xfrm>
            <a:prstGeom prst="line">
              <a:avLst/>
            </a:prstGeom>
            <a:ln w="12700">
              <a:solidFill>
                <a:srgbClr val="5E35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TextBox 197"/>
          <p:cNvSpPr txBox="1"/>
          <p:nvPr/>
        </p:nvSpPr>
        <p:spPr>
          <a:xfrm>
            <a:off x="2148840" y="6035040"/>
            <a:ext cx="891540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ptos"/>
              </a:rPr>
              <a:t>Intinya, implementasi e-procurement memperbaiki cara proses procurement dijalankan</a:t>
            </a:r>
          </a:p>
          <a:p>
            <a:pPr algn="l"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ptos"/>
              </a:rPr>
              <a:t>dari sisi kecepatan, keterlacakan, konsistensi, dan kualitas informasi.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FD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FD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766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6482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914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346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50624" y="30175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482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914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7630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1346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50624" y="43891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766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6482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14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7630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0624" y="57607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766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6482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914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7630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1346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0624" y="713232"/>
            <a:ext cx="22860" cy="2286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" y="219456"/>
            <a:ext cx="73152" cy="859536"/>
          </a:xfrm>
          <a:prstGeom prst="roundRect">
            <a:avLst>
              <a:gd name="adj" fmla="val 20000"/>
            </a:avLst>
          </a:prstGeom>
          <a:solidFill>
            <a:srgbClr val="C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56032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C85000"/>
                </a:solidFill>
                <a:latin typeface="Aptos Display"/>
              </a:rPr>
              <a:t>4. Kinerja Procurement (Hasil Kinerja)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584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F4E70"/>
                </a:solidFill>
                <a:latin typeface="Aptos"/>
              </a:rPr>
              <a:t>Outcome utama dari implementasi e-procurement yang efektif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" y="1554480"/>
            <a:ext cx="3456432" cy="171907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6656" y="1764792"/>
            <a:ext cx="950976" cy="950976"/>
          </a:xfrm>
          <a:prstGeom prst="ellipse">
            <a:avLst/>
          </a:prstGeom>
          <a:solidFill>
            <a:srgbClr val="FFF3DE"/>
          </a:solidFill>
          <a:ln w="12700">
            <a:solidFill>
              <a:srgbClr val="F7D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4672" y="1892808"/>
            <a:ext cx="694944" cy="694944"/>
          </a:xfrm>
          <a:prstGeom prst="ellipse">
            <a:avLst/>
          </a:prstGeom>
          <a:solidFill>
            <a:srgbClr val="E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1810512"/>
            <a:ext cx="1920239" cy="6217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1. Penghematan biaya</a:t>
            </a:r>
          </a:p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(cost savings)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2468880"/>
            <a:ext cx="1920239" cy="4206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(Thai, 2001; Gupta &amp;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Narain, 2015)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24528" y="1554480"/>
            <a:ext cx="3493008" cy="171907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16552" y="1764792"/>
            <a:ext cx="950976" cy="950976"/>
          </a:xfrm>
          <a:prstGeom prst="ellipse">
            <a:avLst/>
          </a:prstGeom>
          <a:solidFill>
            <a:srgbClr val="FFF3DE"/>
          </a:solidFill>
          <a:ln w="12700">
            <a:solidFill>
              <a:srgbClr val="F7D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8" name="editable-icon-AWD"/>
          <p:cNvGrpSpPr/>
          <p:nvPr/>
        </p:nvGrpSpPr>
        <p:grpSpPr>
          <a:xfrm>
            <a:off x="4544568" y="1892808"/>
            <a:ext cx="694944" cy="694944"/>
            <a:chOff x="4544568" y="1892808"/>
            <a:chExt cx="694944" cy="694944"/>
          </a:xfrm>
        </p:grpSpPr>
        <p:sp>
          <p:nvSpPr>
            <p:cNvPr id="44" name="Oval 43"/>
            <p:cNvSpPr/>
            <p:nvPr/>
          </p:nvSpPr>
          <p:spPr>
            <a:xfrm>
              <a:off x="4544568" y="1892808"/>
              <a:ext cx="694944" cy="694944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773899" y="2073493"/>
              <a:ext cx="236280" cy="2362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sosceles Triangle 45"/>
            <p:cNvSpPr/>
            <p:nvPr/>
          </p:nvSpPr>
          <p:spPr>
            <a:xfrm>
              <a:off x="4780848" y="2275027"/>
              <a:ext cx="97292" cy="173736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sosceles Triangle 46"/>
            <p:cNvSpPr/>
            <p:nvPr/>
          </p:nvSpPr>
          <p:spPr>
            <a:xfrm>
              <a:off x="4905938" y="2275027"/>
              <a:ext cx="97292" cy="173736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5614416" y="1810512"/>
            <a:ext cx="1956815" cy="6217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2. Peningkatan kualitas</a:t>
            </a:r>
          </a:p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barang/jasa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14416" y="2468880"/>
            <a:ext cx="1956815" cy="4206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(Jama &amp; Mohamud, 2023)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10144" y="1554480"/>
            <a:ext cx="3611880" cy="171907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02168" y="1764792"/>
            <a:ext cx="950976" cy="950976"/>
          </a:xfrm>
          <a:prstGeom prst="ellipse">
            <a:avLst/>
          </a:prstGeom>
          <a:solidFill>
            <a:srgbClr val="FFF3DE"/>
          </a:solidFill>
          <a:ln w="12700">
            <a:solidFill>
              <a:srgbClr val="F7D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8" name="editable-icon-TRK"/>
          <p:cNvGrpSpPr/>
          <p:nvPr/>
        </p:nvGrpSpPr>
        <p:grpSpPr>
          <a:xfrm>
            <a:off x="8330183" y="1892808"/>
            <a:ext cx="694944" cy="694944"/>
            <a:chOff x="8330183" y="1892808"/>
            <a:chExt cx="694944" cy="694944"/>
          </a:xfrm>
        </p:grpSpPr>
        <p:sp>
          <p:nvSpPr>
            <p:cNvPr id="53" name="Oval 52"/>
            <p:cNvSpPr/>
            <p:nvPr/>
          </p:nvSpPr>
          <p:spPr>
            <a:xfrm>
              <a:off x="8330183" y="1892808"/>
              <a:ext cx="694944" cy="694944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476122" y="2170785"/>
              <a:ext cx="236280" cy="1806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712403" y="2212482"/>
              <a:ext cx="138988" cy="138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8524768" y="2358420"/>
              <a:ext cx="83393" cy="8339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8754099" y="2358420"/>
              <a:ext cx="83393" cy="8339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9400032" y="1810512"/>
            <a:ext cx="2075688" cy="6217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3. Ketepatan waktu</a:t>
            </a:r>
          </a:p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pengiriman</a:t>
            </a:r>
          </a:p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(on-time delivery)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0032" y="2468880"/>
            <a:ext cx="2075688" cy="4206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(Gupta &amp; Narain, 2015)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3529584"/>
            <a:ext cx="5394960" cy="1609344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4944" y="3739896"/>
            <a:ext cx="950976" cy="950976"/>
          </a:xfrm>
          <a:prstGeom prst="ellipse">
            <a:avLst/>
          </a:prstGeom>
          <a:solidFill>
            <a:srgbClr val="FFF3DE"/>
          </a:solidFill>
          <a:ln w="12700">
            <a:solidFill>
              <a:srgbClr val="F7D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2" name="editable-icon-HND"/>
          <p:cNvGrpSpPr/>
          <p:nvPr/>
        </p:nvGrpSpPr>
        <p:grpSpPr>
          <a:xfrm>
            <a:off x="822960" y="3867911"/>
            <a:ext cx="694944" cy="694944"/>
            <a:chOff x="822960" y="3867911"/>
            <a:chExt cx="694944" cy="694944"/>
          </a:xfrm>
        </p:grpSpPr>
        <p:sp>
          <p:nvSpPr>
            <p:cNvPr id="63" name="Oval 62"/>
            <p:cNvSpPr/>
            <p:nvPr/>
          </p:nvSpPr>
          <p:spPr>
            <a:xfrm>
              <a:off x="822960" y="3867911"/>
              <a:ext cx="694944" cy="694944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Chevron 63"/>
            <p:cNvSpPr/>
            <p:nvPr/>
          </p:nvSpPr>
          <p:spPr>
            <a:xfrm>
              <a:off x="954999" y="4159788"/>
              <a:ext cx="180685" cy="125089"/>
            </a:xfrm>
            <a:prstGeom prst="chevro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Chevron 64"/>
            <p:cNvSpPr/>
            <p:nvPr/>
          </p:nvSpPr>
          <p:spPr>
            <a:xfrm rot="10800000">
              <a:off x="1205179" y="4159788"/>
              <a:ext cx="180685" cy="125089"/>
            </a:xfrm>
            <a:prstGeom prst="chevro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Connector 65"/>
            <p:cNvCxnSpPr/>
            <p:nvPr/>
          </p:nvCxnSpPr>
          <p:spPr>
            <a:xfrm>
              <a:off x="1087038" y="4187586"/>
              <a:ext cx="166787" cy="97292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 flipV="1">
              <a:off x="1135684" y="4159788"/>
              <a:ext cx="125090" cy="90343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>
              <a:off x="1052291" y="4270979"/>
              <a:ext cx="29535" cy="90343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00937" y="4270979"/>
              <a:ext cx="17374" cy="90343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H="1">
              <a:off x="1222552" y="4270979"/>
              <a:ext cx="17374" cy="90343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 flipH="1">
              <a:off x="1259037" y="4270979"/>
              <a:ext cx="29535" cy="90343"/>
            </a:xfrm>
            <a:prstGeom prst="line">
              <a:avLst/>
            </a:prstGeom>
            <a:ln w="1397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1892808" y="3785615"/>
            <a:ext cx="3858768" cy="6217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4. Hubungan pemasok</a:t>
            </a:r>
          </a:p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lebih kuat &amp; berkelanjutan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92808" y="4443983"/>
            <a:ext cx="3858768" cy="4206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(Revilla &amp; Knoppen, 2015;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Semuel et al., 2018)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99632" y="3529584"/>
            <a:ext cx="5404104" cy="1609344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391656" y="3739896"/>
            <a:ext cx="950976" cy="950976"/>
          </a:xfrm>
          <a:prstGeom prst="ellipse">
            <a:avLst/>
          </a:prstGeom>
          <a:solidFill>
            <a:srgbClr val="FFF3DE"/>
          </a:solidFill>
          <a:ln w="12700">
            <a:solidFill>
              <a:srgbClr val="F7D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2" name="editable-icon-UP"/>
          <p:cNvGrpSpPr/>
          <p:nvPr/>
        </p:nvGrpSpPr>
        <p:grpSpPr>
          <a:xfrm>
            <a:off x="6519672" y="3867911"/>
            <a:ext cx="694944" cy="694944"/>
            <a:chOff x="6519672" y="3867911"/>
            <a:chExt cx="694944" cy="694944"/>
          </a:xfrm>
        </p:grpSpPr>
        <p:sp>
          <p:nvSpPr>
            <p:cNvPr id="77" name="Oval 76"/>
            <p:cNvSpPr/>
            <p:nvPr/>
          </p:nvSpPr>
          <p:spPr>
            <a:xfrm>
              <a:off x="6519672" y="3867911"/>
              <a:ext cx="694944" cy="694944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728155" y="4236232"/>
              <a:ext cx="69494" cy="138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846295" y="4159788"/>
              <a:ext cx="69494" cy="215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964436" y="4076395"/>
              <a:ext cx="69494" cy="2988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ight Arrow 80"/>
            <p:cNvSpPr/>
            <p:nvPr/>
          </p:nvSpPr>
          <p:spPr>
            <a:xfrm rot="19200000">
              <a:off x="6776801" y="4034698"/>
              <a:ext cx="291876" cy="83393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7589520" y="3785615"/>
            <a:ext cx="3867912" cy="6217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5. Keunggulan bersaing &amp;</a:t>
            </a:r>
          </a:p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keberlanjutan kinerja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0" y="4443983"/>
            <a:ext cx="3867912" cy="4206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(Alawadhi &amp; Alshurideh, 2024;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3F4E70"/>
                </a:solidFill>
                <a:latin typeface="Aptos"/>
              </a:rPr>
              <a:t>Salimian et al., 2021)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70432" y="5495544"/>
            <a:ext cx="9784080" cy="877824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280160" y="5568696"/>
            <a:ext cx="1078992" cy="713232"/>
          </a:xfrm>
          <a:prstGeom prst="roundRect">
            <a:avLst>
              <a:gd name="adj" fmla="val 7000"/>
            </a:avLst>
          </a:prstGeom>
          <a:solidFill>
            <a:srgbClr val="E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4" name="editable-icon-WIN"/>
          <p:cNvGrpSpPr/>
          <p:nvPr/>
        </p:nvGrpSpPr>
        <p:grpSpPr>
          <a:xfrm>
            <a:off x="1536192" y="5641848"/>
            <a:ext cx="566928" cy="566928"/>
            <a:chOff x="1536192" y="5641848"/>
            <a:chExt cx="566928" cy="566928"/>
          </a:xfrm>
        </p:grpSpPr>
        <p:sp>
          <p:nvSpPr>
            <p:cNvPr id="87" name="Oval 86"/>
            <p:cNvSpPr/>
            <p:nvPr/>
          </p:nvSpPr>
          <p:spPr>
            <a:xfrm>
              <a:off x="1536192" y="5641848"/>
              <a:ext cx="566928" cy="566928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734616" y="5845942"/>
              <a:ext cx="170078" cy="141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717608" y="5772241"/>
              <a:ext cx="204094" cy="1474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791309" y="5982004"/>
              <a:ext cx="56692" cy="907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717608" y="6067044"/>
              <a:ext cx="204094" cy="340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649577" y="5828934"/>
              <a:ext cx="113385" cy="90708"/>
            </a:xfrm>
            <a:prstGeom prst="ellipse">
              <a:avLst/>
            </a:prstGeom>
            <a:noFill/>
            <a:ln w="1397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876348" y="5828934"/>
              <a:ext cx="113385" cy="90708"/>
            </a:xfrm>
            <a:prstGeom prst="ellipse">
              <a:avLst/>
            </a:prstGeom>
            <a:noFill/>
            <a:ln w="1397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2670048" y="5669280"/>
            <a:ext cx="758952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5000"/>
                </a:solidFill>
                <a:latin typeface="Aptos"/>
              </a:rPr>
              <a:t>Kinerja procurement meningkat ketika digitalisasi mendukung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C85000"/>
                </a:solidFill>
                <a:latin typeface="Aptos"/>
              </a:rPr>
              <a:t>implementasi proses secara konsisten dan terukur.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766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6482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914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346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50624" y="30175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2766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482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914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7630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1346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50624" y="43891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766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6482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14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7630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0624" y="57607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766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6482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0198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914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7630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1346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50624" y="713232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" y="219456"/>
            <a:ext cx="73152" cy="859536"/>
          </a:xfrm>
          <a:prstGeom prst="roundRect">
            <a:avLst>
              <a:gd name="adj" fmla="val 20000"/>
            </a:avLst>
          </a:prstGeom>
          <a:solidFill>
            <a:srgbClr val="061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56032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6154A"/>
                </a:solidFill>
                <a:latin typeface="Aptos Display"/>
              </a:rPr>
              <a:t>5. Enablers Keberhasilan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00584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F4E70"/>
                </a:solidFill>
                <a:latin typeface="Aptos"/>
              </a:rPr>
              <a:t>Faktor pendukung yang memfasilitasi adopsi, implementasi, dan hasil kinerja e-procurement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" y="1325880"/>
            <a:ext cx="3310128" cy="228600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4400" y="2185415"/>
            <a:ext cx="3273552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6" name="editable-icon-TEAM"/>
          <p:cNvGrpSpPr/>
          <p:nvPr/>
        </p:nvGrpSpPr>
        <p:grpSpPr>
          <a:xfrm>
            <a:off x="2057400" y="1380743"/>
            <a:ext cx="987552" cy="987552"/>
            <a:chOff x="2057400" y="1380743"/>
            <a:chExt cx="987552" cy="987552"/>
          </a:xfrm>
        </p:grpSpPr>
        <p:sp>
          <p:nvSpPr>
            <p:cNvPr id="39" name="Oval 38"/>
            <p:cNvSpPr/>
            <p:nvPr/>
          </p:nvSpPr>
          <p:spPr>
            <a:xfrm>
              <a:off x="2057400" y="1380743"/>
              <a:ext cx="987552" cy="98755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304288" y="1716511"/>
              <a:ext cx="158008" cy="1580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2640055" y="1716511"/>
              <a:ext cx="158008" cy="1580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2452420" y="1617756"/>
              <a:ext cx="197510" cy="1975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2269723" y="1928835"/>
              <a:ext cx="227136" cy="16788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2605491" y="1928835"/>
              <a:ext cx="227136" cy="16788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2407980" y="1899208"/>
              <a:ext cx="286390" cy="20738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7" name="Oval 46"/>
          <p:cNvSpPr/>
          <p:nvPr/>
        </p:nvSpPr>
        <p:spPr>
          <a:xfrm>
            <a:off x="2414016" y="2340864"/>
            <a:ext cx="274320" cy="274320"/>
          </a:xfrm>
          <a:prstGeom prst="ellipse">
            <a:avLst/>
          </a:prstGeom>
          <a:solidFill>
            <a:srgbClr val="D5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900" b="1">
                <a:solidFill>
                  <a:srgbClr val="0B4EA2"/>
                </a:solidFill>
                <a:latin typeface="Apto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2752344"/>
            <a:ext cx="2907792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Dukungan manajemen puncak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3355848"/>
            <a:ext cx="290779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72033"/>
                </a:solidFill>
                <a:latin typeface="Aptos"/>
              </a:rPr>
              <a:t>(Thong, 1999)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1325880"/>
            <a:ext cx="3328416" cy="228600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07407" y="2185415"/>
            <a:ext cx="329184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1" name="editable-icon-SDM"/>
          <p:cNvGrpSpPr/>
          <p:nvPr/>
        </p:nvGrpSpPr>
        <p:grpSpPr>
          <a:xfrm>
            <a:off x="5559552" y="1380743"/>
            <a:ext cx="987552" cy="987552"/>
            <a:chOff x="5559552" y="1380743"/>
            <a:chExt cx="987552" cy="987552"/>
          </a:xfrm>
        </p:grpSpPr>
        <p:sp>
          <p:nvSpPr>
            <p:cNvPr id="52" name="Oval 51"/>
            <p:cNvSpPr/>
            <p:nvPr/>
          </p:nvSpPr>
          <p:spPr>
            <a:xfrm>
              <a:off x="5559552" y="1380743"/>
              <a:ext cx="987552" cy="98755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5806440" y="1716511"/>
              <a:ext cx="158008" cy="1580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142207" y="1716511"/>
              <a:ext cx="158008" cy="1580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5954572" y="1617756"/>
              <a:ext cx="197510" cy="1975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5771875" y="1928835"/>
              <a:ext cx="227136" cy="16788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6107643" y="1928835"/>
              <a:ext cx="227136" cy="16788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910132" y="1899208"/>
              <a:ext cx="286390" cy="20738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231087" y="1973275"/>
              <a:ext cx="217261" cy="217261"/>
            </a:xfrm>
            <a:prstGeom prst="ellipse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295278" y="2037466"/>
              <a:ext cx="88879" cy="8887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Oval 61"/>
          <p:cNvSpPr/>
          <p:nvPr/>
        </p:nvSpPr>
        <p:spPr>
          <a:xfrm>
            <a:off x="5916168" y="2340864"/>
            <a:ext cx="274320" cy="274320"/>
          </a:xfrm>
          <a:prstGeom prst="ellipse">
            <a:avLst/>
          </a:prstGeom>
          <a:solidFill>
            <a:srgbClr val="D5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900" b="1">
                <a:solidFill>
                  <a:srgbClr val="0B4EA2"/>
                </a:solidFill>
                <a:latin typeface="Aptos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90288" y="2752344"/>
            <a:ext cx="2926080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Kompetensi SDM &amp;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manajemen perubahan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0288" y="3355848"/>
            <a:ext cx="29260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72033"/>
                </a:solidFill>
                <a:latin typeface="Aptos"/>
              </a:rPr>
              <a:t>(Lacity &amp; Hirschheim, 1993)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18704" y="132588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936992" y="2185415"/>
            <a:ext cx="3255264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8" name="editable-icon-GEAR"/>
          <p:cNvGrpSpPr/>
          <p:nvPr/>
        </p:nvGrpSpPr>
        <p:grpSpPr>
          <a:xfrm>
            <a:off x="9070848" y="1380743"/>
            <a:ext cx="987552" cy="987552"/>
            <a:chOff x="9070848" y="1380743"/>
            <a:chExt cx="987552" cy="987552"/>
          </a:xfrm>
        </p:grpSpPr>
        <p:sp>
          <p:nvSpPr>
            <p:cNvPr id="67" name="Oval 66"/>
            <p:cNvSpPr/>
            <p:nvPr/>
          </p:nvSpPr>
          <p:spPr>
            <a:xfrm>
              <a:off x="9070848" y="1380743"/>
              <a:ext cx="987552" cy="98755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727570" y="1839955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669720" y="1979616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530059" y="2037466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390398" y="1979616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332549" y="1839955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390398" y="1700294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530059" y="1642445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9669720" y="1700294"/>
              <a:ext cx="69128" cy="691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9367113" y="1677009"/>
              <a:ext cx="395020" cy="3950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9485619" y="1795515"/>
              <a:ext cx="158008" cy="158008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9" name="Oval 78"/>
          <p:cNvSpPr/>
          <p:nvPr/>
        </p:nvSpPr>
        <p:spPr>
          <a:xfrm>
            <a:off x="9427464" y="2340864"/>
            <a:ext cx="274320" cy="274320"/>
          </a:xfrm>
          <a:prstGeom prst="ellipse">
            <a:avLst/>
          </a:prstGeom>
          <a:solidFill>
            <a:srgbClr val="D5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900" b="1">
                <a:solidFill>
                  <a:srgbClr val="0B4EA2"/>
                </a:solidFill>
                <a:latin typeface="Aptos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9872" y="2752344"/>
            <a:ext cx="2889504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Proses bisnis &amp;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tata kelola yang baik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19872" y="3355848"/>
            <a:ext cx="288950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72033"/>
                </a:solidFill>
                <a:latin typeface="Aptos"/>
              </a:rPr>
              <a:t>(Nielsen, 2006; OECD, 2016)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05456" y="3767328"/>
            <a:ext cx="3493008" cy="1993392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523744" y="4626864"/>
            <a:ext cx="3456432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7" name="editable-icon-IT"/>
          <p:cNvGrpSpPr/>
          <p:nvPr/>
        </p:nvGrpSpPr>
        <p:grpSpPr>
          <a:xfrm>
            <a:off x="3758184" y="3822191"/>
            <a:ext cx="987552" cy="987552"/>
            <a:chOff x="3758184" y="3822191"/>
            <a:chExt cx="987552" cy="987552"/>
          </a:xfrm>
        </p:grpSpPr>
        <p:sp>
          <p:nvSpPr>
            <p:cNvPr id="84" name="Oval 83"/>
            <p:cNvSpPr/>
            <p:nvPr/>
          </p:nvSpPr>
          <p:spPr>
            <a:xfrm>
              <a:off x="3758184" y="3822191"/>
              <a:ext cx="987552" cy="98755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965569" y="4138208"/>
              <a:ext cx="375269" cy="306141"/>
            </a:xfrm>
            <a:prstGeom prst="rect">
              <a:avLst/>
            </a:prstGeom>
            <a:noFill/>
            <a:ln w="1524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Can 85"/>
            <p:cNvSpPr/>
            <p:nvPr/>
          </p:nvSpPr>
          <p:spPr>
            <a:xfrm>
              <a:off x="4311213" y="4256714"/>
              <a:ext cx="237012" cy="335767"/>
            </a:xfrm>
            <a:prstGeom prst="ca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8" name="Oval 87"/>
          <p:cNvSpPr/>
          <p:nvPr/>
        </p:nvSpPr>
        <p:spPr>
          <a:xfrm>
            <a:off x="4114800" y="4782312"/>
            <a:ext cx="274320" cy="274320"/>
          </a:xfrm>
          <a:prstGeom prst="ellipse">
            <a:avLst/>
          </a:prstGeom>
          <a:solidFill>
            <a:srgbClr val="D5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900" b="1">
                <a:solidFill>
                  <a:srgbClr val="0B4EA2"/>
                </a:solidFill>
                <a:latin typeface="Aptos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06624" y="5193792"/>
            <a:ext cx="3090672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Integrasi sistem &amp;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infrastruktur TI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06624" y="5797296"/>
            <a:ext cx="309067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72033"/>
                </a:solidFill>
                <a:latin typeface="Aptos"/>
              </a:rPr>
              <a:t>(Monczka et al., 2008)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63056" y="3767328"/>
            <a:ext cx="3493008" cy="1993392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181344" y="4626864"/>
            <a:ext cx="3456432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7" name="editable-icon-SEC"/>
          <p:cNvGrpSpPr/>
          <p:nvPr/>
        </p:nvGrpSpPr>
        <p:grpSpPr>
          <a:xfrm>
            <a:off x="7415783" y="3822191"/>
            <a:ext cx="987552" cy="987552"/>
            <a:chOff x="7415783" y="3822191"/>
            <a:chExt cx="987552" cy="987552"/>
          </a:xfrm>
        </p:grpSpPr>
        <p:sp>
          <p:nvSpPr>
            <p:cNvPr id="93" name="Oval 92"/>
            <p:cNvSpPr/>
            <p:nvPr/>
          </p:nvSpPr>
          <p:spPr>
            <a:xfrm>
              <a:off x="7415783" y="3822191"/>
              <a:ext cx="987552" cy="987552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Pentagon 93"/>
            <p:cNvSpPr/>
            <p:nvPr/>
          </p:nvSpPr>
          <p:spPr>
            <a:xfrm>
              <a:off x="7682423" y="4069079"/>
              <a:ext cx="454273" cy="474024"/>
            </a:xfrm>
            <a:prstGeom prst="homePlat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7830555" y="4296216"/>
              <a:ext cx="158008" cy="16788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7810804" y="4167835"/>
              <a:ext cx="197510" cy="19751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8" name="Oval 97"/>
          <p:cNvSpPr/>
          <p:nvPr/>
        </p:nvSpPr>
        <p:spPr>
          <a:xfrm>
            <a:off x="7772400" y="4782312"/>
            <a:ext cx="274320" cy="274320"/>
          </a:xfrm>
          <a:prstGeom prst="ellipse">
            <a:avLst/>
          </a:prstGeom>
          <a:solidFill>
            <a:srgbClr val="D5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900" b="1">
                <a:solidFill>
                  <a:srgbClr val="0B4EA2"/>
                </a:solidFill>
                <a:latin typeface="Aptos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64224" y="5193792"/>
            <a:ext cx="3090672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Keamanan, kepercayaan &amp;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EA2"/>
                </a:solidFill>
                <a:latin typeface="Aptos"/>
              </a:rPr>
              <a:t>manajemen risiko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4224" y="5797296"/>
            <a:ext cx="309067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172033"/>
                </a:solidFill>
                <a:latin typeface="Aptos"/>
              </a:rPr>
              <a:t>(Cavusoglu et al., 2004)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389888" y="5925312"/>
            <a:ext cx="9363456" cy="685800"/>
          </a:xfrm>
          <a:prstGeom prst="roundRect">
            <a:avLst>
              <a:gd name="adj" fmla="val 16000"/>
            </a:avLst>
          </a:prstGeom>
          <a:solidFill>
            <a:srgbClr val="0B4EA2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6" name="editable-icon-SEC"/>
          <p:cNvGrpSpPr/>
          <p:nvPr/>
        </p:nvGrpSpPr>
        <p:grpSpPr>
          <a:xfrm>
            <a:off x="1728216" y="5989320"/>
            <a:ext cx="566928" cy="566928"/>
            <a:chOff x="1728216" y="5989320"/>
            <a:chExt cx="566928" cy="566928"/>
          </a:xfrm>
        </p:grpSpPr>
        <p:sp>
          <p:nvSpPr>
            <p:cNvPr id="102" name="Oval 101"/>
            <p:cNvSpPr/>
            <p:nvPr/>
          </p:nvSpPr>
          <p:spPr>
            <a:xfrm>
              <a:off x="1728216" y="5989320"/>
              <a:ext cx="566928" cy="566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Pentagon 102"/>
            <p:cNvSpPr/>
            <p:nvPr/>
          </p:nvSpPr>
          <p:spPr>
            <a:xfrm>
              <a:off x="1881286" y="6131052"/>
              <a:ext cx="260786" cy="272125"/>
            </a:xfrm>
            <a:prstGeom prst="homePlat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966325" y="6261445"/>
              <a:ext cx="90708" cy="96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954987" y="6187744"/>
              <a:ext cx="113385" cy="113385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2450592" y="6144768"/>
            <a:ext cx="78181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FFFFFF"/>
                </a:solidFill>
                <a:latin typeface="Aptos"/>
              </a:rPr>
              <a:t>Tanpa enablers yang memadai, manfaat digitalisasi e-procurement sulit diwujudkan secara optimal.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5669280"/>
            <a:ext cx="4937760" cy="13716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5852160"/>
            <a:ext cx="4572000" cy="100584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074920"/>
            <a:ext cx="4389120" cy="1828800"/>
          </a:xfrm>
          <a:prstGeom prst="ellipse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532120"/>
            <a:ext cx="4754880" cy="1371600"/>
          </a:xfrm>
          <a:prstGeom prst="ellipse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9768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7" y="21945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5448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2608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35661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768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" y="49377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5448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608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9768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6928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4088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7" y="630936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8875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2591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6307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0023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13739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27455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11712" y="587044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8875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2591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6307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0023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3739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455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411712" y="600760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8875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2591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86307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00023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3739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7455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411712" y="614476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8875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2591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86307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00023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3739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27455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411712" y="6281928"/>
            <a:ext cx="22860" cy="22860"/>
          </a:xfrm>
          <a:prstGeom prst="ellipse">
            <a:avLst/>
          </a:prstGeom>
          <a:solidFill>
            <a:srgbClr val="A9C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52144" y="201168"/>
            <a:ext cx="996696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6154A"/>
                </a:solidFill>
                <a:latin typeface="Aptos Display"/>
              </a:rPr>
              <a:t>Diagram Konseptual: Kontribusi Praktis bagi Korporasi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12848" y="749808"/>
            <a:ext cx="7863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3F4E70"/>
                </a:solidFill>
                <a:latin typeface="Aptos"/>
              </a:rPr>
              <a:t>Manfaat praktis penelitian untuk unit procurement dan manajemen korporasi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1097280"/>
            <a:ext cx="34290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12063" y="1179576"/>
            <a:ext cx="292608" cy="292608"/>
          </a:xfrm>
          <a:prstGeom prst="ellipse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grpSp>
        <p:nvGrpSpPr>
          <p:cNvPr id="73" name="editable-icon-REP"/>
          <p:cNvGrpSpPr/>
          <p:nvPr/>
        </p:nvGrpSpPr>
        <p:grpSpPr>
          <a:xfrm>
            <a:off x="950976" y="1508759"/>
            <a:ext cx="749808" cy="749808"/>
            <a:chOff x="950976" y="1508759"/>
            <a:chExt cx="749808" cy="749808"/>
          </a:xfrm>
        </p:grpSpPr>
        <p:sp>
          <p:nvSpPr>
            <p:cNvPr id="66" name="Oval 65"/>
            <p:cNvSpPr/>
            <p:nvPr/>
          </p:nvSpPr>
          <p:spPr>
            <a:xfrm>
              <a:off x="950976" y="1508759"/>
              <a:ext cx="749808" cy="749808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08435" y="1748698"/>
              <a:ext cx="284927" cy="232440"/>
            </a:xfrm>
            <a:prstGeom prst="rect">
              <a:avLst/>
            </a:prstGeom>
            <a:noFill/>
            <a:ln w="1524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160922" y="1883663"/>
              <a:ext cx="37490" cy="599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220906" y="1831177"/>
              <a:ext cx="37490" cy="1124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280891" y="1778690"/>
              <a:ext cx="37490" cy="1649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348374" y="1868667"/>
              <a:ext cx="164957" cy="164957"/>
            </a:xfrm>
            <a:prstGeom prst="ellipse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2" name="Connector 71"/>
            <p:cNvCxnSpPr/>
            <p:nvPr/>
          </p:nvCxnSpPr>
          <p:spPr>
            <a:xfrm>
              <a:off x="1475841" y="1996135"/>
              <a:ext cx="82479" cy="89977"/>
            </a:xfrm>
            <a:prstGeom prst="line">
              <a:avLst/>
            </a:prstGeom>
            <a:ln w="1651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/>
          <p:cNvSpPr txBox="1"/>
          <p:nvPr/>
        </p:nvSpPr>
        <p:spPr>
          <a:xfrm>
            <a:off x="1892808" y="1298448"/>
            <a:ext cx="176479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Pemahaman Kinerja</a:t>
            </a:r>
          </a:p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Tender Secara Rinci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92808" y="1883664"/>
            <a:ext cx="1764792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Memahami kinerja proses dari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level kasus hingga level aktivitas.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33087" y="1097280"/>
            <a:ext cx="324612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33671" y="1179576"/>
            <a:ext cx="292608" cy="292608"/>
          </a:xfrm>
          <a:prstGeom prst="ellipse">
            <a:avLst/>
          </a:prstGeom>
          <a:solidFill>
            <a:srgbClr val="E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grpSp>
        <p:nvGrpSpPr>
          <p:cNvPr id="82" name="editable-icon-FLT"/>
          <p:cNvGrpSpPr/>
          <p:nvPr/>
        </p:nvGrpSpPr>
        <p:grpSpPr>
          <a:xfrm>
            <a:off x="4672583" y="1508759"/>
            <a:ext cx="749808" cy="749808"/>
            <a:chOff x="4672583" y="1508759"/>
            <a:chExt cx="749808" cy="749808"/>
          </a:xfrm>
        </p:grpSpPr>
        <p:sp>
          <p:nvSpPr>
            <p:cNvPr id="78" name="Oval 77"/>
            <p:cNvSpPr/>
            <p:nvPr/>
          </p:nvSpPr>
          <p:spPr>
            <a:xfrm>
              <a:off x="4672583" y="1508759"/>
              <a:ext cx="749808" cy="749808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rapezoid 78"/>
            <p:cNvSpPr/>
            <p:nvPr/>
          </p:nvSpPr>
          <p:spPr>
            <a:xfrm rot="10800000">
              <a:off x="4867534" y="1703710"/>
              <a:ext cx="359907" cy="194950"/>
            </a:xfrm>
            <a:prstGeom prst="trapezoid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009997" y="1898660"/>
              <a:ext cx="74980" cy="194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5024993" y="2071115"/>
              <a:ext cx="44988" cy="44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5614416" y="1298448"/>
            <a:ext cx="1581911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Identifikasi Bottleneck</a:t>
            </a:r>
          </a:p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dan Variasi Proses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14416" y="1883664"/>
            <a:ext cx="1581911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Menemukan aktivitas kritis,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bottleneck, variasi proses, dan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sumber keterlambatan.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35240" y="1097280"/>
            <a:ext cx="3529584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735823" y="1179576"/>
            <a:ext cx="292608" cy="2926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grpSp>
        <p:nvGrpSpPr>
          <p:cNvPr id="94" name="editable-icon-BEN"/>
          <p:cNvGrpSpPr/>
          <p:nvPr/>
        </p:nvGrpSpPr>
        <p:grpSpPr>
          <a:xfrm>
            <a:off x="8174736" y="1508759"/>
            <a:ext cx="749808" cy="749808"/>
            <a:chOff x="8174736" y="1508759"/>
            <a:chExt cx="749808" cy="749808"/>
          </a:xfrm>
        </p:grpSpPr>
        <p:sp>
          <p:nvSpPr>
            <p:cNvPr id="87" name="Oval 86"/>
            <p:cNvSpPr/>
            <p:nvPr/>
          </p:nvSpPr>
          <p:spPr>
            <a:xfrm>
              <a:off x="8174736" y="1508759"/>
              <a:ext cx="749808" cy="749808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8399678" y="1906158"/>
              <a:ext cx="74980" cy="1499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8527145" y="1823679"/>
              <a:ext cx="74980" cy="2324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654613" y="1733702"/>
              <a:ext cx="74980" cy="3224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ight Arrow 90"/>
            <p:cNvSpPr/>
            <p:nvPr/>
          </p:nvSpPr>
          <p:spPr>
            <a:xfrm rot="19200000">
              <a:off x="8452164" y="1688713"/>
              <a:ext cx="314919" cy="89976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8587130" y="1831177"/>
              <a:ext cx="179953" cy="179953"/>
            </a:xfrm>
            <a:prstGeom prst="ellipse">
              <a:avLst/>
            </a:prstGeom>
            <a:noFill/>
            <a:ln w="177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>
              <a:off x="8714597" y="1973640"/>
              <a:ext cx="89977" cy="97475"/>
            </a:xfrm>
            <a:prstGeom prst="line">
              <a:avLst/>
            </a:prstGeom>
            <a:ln w="1778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9116567" y="1298448"/>
            <a:ext cx="1865376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Benchmarking</a:t>
            </a:r>
          </a:p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Antarentitas yang Objektif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16567" y="1883664"/>
            <a:ext cx="1865376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Membandingkan kinerja proses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tender antarunit berdasarkan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proses aktual.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11480" y="4096512"/>
            <a:ext cx="342900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12063" y="4178808"/>
            <a:ext cx="292608" cy="292608"/>
          </a:xfrm>
          <a:prstGeom prst="ellipse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grpSp>
        <p:nvGrpSpPr>
          <p:cNvPr id="101" name="editable-icon-DB"/>
          <p:cNvGrpSpPr/>
          <p:nvPr/>
        </p:nvGrpSpPr>
        <p:grpSpPr>
          <a:xfrm>
            <a:off x="950976" y="4462272"/>
            <a:ext cx="749808" cy="749808"/>
            <a:chOff x="950976" y="4462272"/>
            <a:chExt cx="749808" cy="749808"/>
          </a:xfrm>
        </p:grpSpPr>
        <p:sp>
          <p:nvSpPr>
            <p:cNvPr id="99" name="Oval 98"/>
            <p:cNvSpPr/>
            <p:nvPr/>
          </p:nvSpPr>
          <p:spPr>
            <a:xfrm>
              <a:off x="950976" y="4462272"/>
              <a:ext cx="749808" cy="749808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Can 99"/>
            <p:cNvSpPr/>
            <p:nvPr/>
          </p:nvSpPr>
          <p:spPr>
            <a:xfrm>
              <a:off x="1145926" y="4642225"/>
              <a:ext cx="359907" cy="389900"/>
            </a:xfrm>
            <a:prstGeom prst="can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1892808" y="4297680"/>
            <a:ext cx="176479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Standardisasi Event</a:t>
            </a:r>
          </a:p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Log dan Metrik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92808" y="4882896"/>
            <a:ext cx="1764792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Mendorong penyelarasan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definisi aktivitas, event log,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dan metrik kinerja.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133087" y="4096512"/>
            <a:ext cx="32461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33671" y="4178808"/>
            <a:ext cx="292608" cy="292608"/>
          </a:xfrm>
          <a:prstGeom prst="ellipse">
            <a:avLst/>
          </a:prstGeom>
          <a:solidFill>
            <a:srgbClr val="E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grpSp>
        <p:nvGrpSpPr>
          <p:cNvPr id="110" name="editable-icon-DSS"/>
          <p:cNvGrpSpPr/>
          <p:nvPr/>
        </p:nvGrpSpPr>
        <p:grpSpPr>
          <a:xfrm>
            <a:off x="4672583" y="4462272"/>
            <a:ext cx="749808" cy="749808"/>
            <a:chOff x="4672583" y="4462272"/>
            <a:chExt cx="749808" cy="749808"/>
          </a:xfrm>
        </p:grpSpPr>
        <p:sp>
          <p:nvSpPr>
            <p:cNvPr id="106" name="Oval 105"/>
            <p:cNvSpPr/>
            <p:nvPr/>
          </p:nvSpPr>
          <p:spPr>
            <a:xfrm>
              <a:off x="4672583" y="4462272"/>
              <a:ext cx="749808" cy="749808"/>
            </a:xfrm>
            <a:prstGeom prst="ellipse">
              <a:avLst/>
            </a:prstGeom>
            <a:solidFill>
              <a:srgbClr val="EF7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4830043" y="4702210"/>
              <a:ext cx="284927" cy="232440"/>
            </a:xfrm>
            <a:prstGeom prst="rect">
              <a:avLst/>
            </a:prstGeom>
            <a:noFill/>
            <a:ln w="1524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5062484" y="4754697"/>
              <a:ext cx="179953" cy="17995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144963" y="4874666"/>
              <a:ext cx="89976" cy="1649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5614416" y="4297680"/>
            <a:ext cx="1581911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Dasar Pengambilan</a:t>
            </a:r>
          </a:p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Keputusan Berbasis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614416" y="4882896"/>
            <a:ext cx="1581911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Mendukung keputusan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manajerial yang lebih tepat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berdasarkan bukti proses.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35240" y="4096512"/>
            <a:ext cx="3529584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735823" y="4178808"/>
            <a:ext cx="292608" cy="2926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grpSp>
        <p:nvGrpSpPr>
          <p:cNvPr id="124" name="editable-icon-GOV"/>
          <p:cNvGrpSpPr/>
          <p:nvPr/>
        </p:nvGrpSpPr>
        <p:grpSpPr>
          <a:xfrm>
            <a:off x="8174736" y="4462272"/>
            <a:ext cx="749808" cy="749808"/>
            <a:chOff x="8174736" y="4462272"/>
            <a:chExt cx="749808" cy="749808"/>
          </a:xfrm>
        </p:grpSpPr>
        <p:sp>
          <p:nvSpPr>
            <p:cNvPr id="115" name="Oval 114"/>
            <p:cNvSpPr/>
            <p:nvPr/>
          </p:nvSpPr>
          <p:spPr>
            <a:xfrm>
              <a:off x="8174736" y="4462272"/>
              <a:ext cx="749808" cy="749808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Pentagon 115"/>
            <p:cNvSpPr/>
            <p:nvPr/>
          </p:nvSpPr>
          <p:spPr>
            <a:xfrm>
              <a:off x="8324697" y="4664720"/>
              <a:ext cx="209946" cy="269930"/>
            </a:xfrm>
            <a:prstGeom prst="homePlat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7" name="Connector 116"/>
            <p:cNvCxnSpPr/>
            <p:nvPr/>
          </p:nvCxnSpPr>
          <p:spPr>
            <a:xfrm>
              <a:off x="8392180" y="4822179"/>
              <a:ext cx="44988" cy="59985"/>
            </a:xfrm>
            <a:prstGeom prst="line">
              <a:avLst/>
            </a:prstGeom>
            <a:ln w="1778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7"/>
            <p:cNvCxnSpPr/>
            <p:nvPr/>
          </p:nvCxnSpPr>
          <p:spPr>
            <a:xfrm flipV="1">
              <a:off x="8437168" y="4747199"/>
              <a:ext cx="82479" cy="134965"/>
            </a:xfrm>
            <a:prstGeom prst="line">
              <a:avLst/>
            </a:prstGeom>
            <a:ln w="1778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ectangle 118"/>
            <p:cNvSpPr/>
            <p:nvPr/>
          </p:nvSpPr>
          <p:spPr>
            <a:xfrm>
              <a:off x="8549640" y="4657222"/>
              <a:ext cx="194950" cy="337413"/>
            </a:xfrm>
            <a:prstGeom prst="rect">
              <a:avLst/>
            </a:prstGeom>
            <a:noFill/>
            <a:ln w="1651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8609624" y="4612233"/>
              <a:ext cx="74980" cy="599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1" name="Connector 120"/>
            <p:cNvCxnSpPr/>
            <p:nvPr/>
          </p:nvCxnSpPr>
          <p:spPr>
            <a:xfrm>
              <a:off x="8594628" y="4762195"/>
              <a:ext cx="97475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121"/>
            <p:cNvCxnSpPr/>
            <p:nvPr/>
          </p:nvCxnSpPr>
          <p:spPr>
            <a:xfrm>
              <a:off x="8594628" y="4852172"/>
              <a:ext cx="97475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>
              <a:off x="8594628" y="4942149"/>
              <a:ext cx="67483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124"/>
          <p:cNvSpPr txBox="1"/>
          <p:nvPr/>
        </p:nvSpPr>
        <p:spPr>
          <a:xfrm>
            <a:off x="9116567" y="4297680"/>
            <a:ext cx="1865376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Penguatan Tata Kelola</a:t>
            </a:r>
          </a:p>
          <a:p>
            <a:pPr algn="l">
              <a:spcAft>
                <a:spcPts val="0"/>
              </a:spcAft>
            </a:pPr>
            <a:r>
              <a:rPr sz="1320" b="1">
                <a:solidFill>
                  <a:srgbClr val="0B4EA2"/>
                </a:solidFill>
                <a:latin typeface="Aptos"/>
              </a:rPr>
              <a:t>Procurement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16567" y="4882896"/>
            <a:ext cx="1865376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Meningkatkan akuntabilitas,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auditabilitas, dan pengendalian</a:t>
            </a:r>
          </a:p>
          <a:p>
            <a:pPr algn="l">
              <a:spcAft>
                <a:spcPts val="0"/>
              </a:spcAft>
            </a:pPr>
            <a:r>
              <a:rPr sz="1060" b="1">
                <a:solidFill>
                  <a:srgbClr val="172033"/>
                </a:solidFill>
                <a:latin typeface="Aptos"/>
              </a:rPr>
              <a:t>proses tender.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913632" y="2779776"/>
            <a:ext cx="345643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5" name="editable-icon-CORP"/>
          <p:cNvGrpSpPr/>
          <p:nvPr/>
        </p:nvGrpSpPr>
        <p:grpSpPr>
          <a:xfrm>
            <a:off x="4178807" y="2971800"/>
            <a:ext cx="822960" cy="822960"/>
            <a:chOff x="4178807" y="2971800"/>
            <a:chExt cx="822960" cy="822960"/>
          </a:xfrm>
        </p:grpSpPr>
        <p:sp>
          <p:nvSpPr>
            <p:cNvPr id="128" name="Oval 127"/>
            <p:cNvSpPr/>
            <p:nvPr/>
          </p:nvSpPr>
          <p:spPr>
            <a:xfrm>
              <a:off x="4178807" y="2971800"/>
              <a:ext cx="822960" cy="82296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Isosceles Triangle 128"/>
            <p:cNvSpPr/>
            <p:nvPr/>
          </p:nvSpPr>
          <p:spPr>
            <a:xfrm>
              <a:off x="4384548" y="3185769"/>
              <a:ext cx="411480" cy="164592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4376318" y="3342132"/>
              <a:ext cx="427939" cy="49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4421581" y="3399739"/>
              <a:ext cx="57607" cy="1975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561484" y="3399739"/>
              <a:ext cx="57607" cy="1975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4701387" y="3399739"/>
              <a:ext cx="57607" cy="1975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4351629" y="3613708"/>
              <a:ext cx="47731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36" name="Connector 135"/>
          <p:cNvCxnSpPr/>
          <p:nvPr/>
        </p:nvCxnSpPr>
        <p:spPr>
          <a:xfrm>
            <a:off x="5230368" y="2907792"/>
            <a:ext cx="0" cy="950976"/>
          </a:xfrm>
          <a:prstGeom prst="line">
            <a:avLst/>
          </a:prstGeom>
          <a:ln w="12700">
            <a:solidFill>
              <a:srgbClr val="D1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5559552" y="2962656"/>
            <a:ext cx="150876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B4EA2"/>
                </a:solidFill>
                <a:latin typeface="Aptos"/>
              </a:rPr>
              <a:t>Kontribusi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0B4EA2"/>
                </a:solidFill>
                <a:latin typeface="Aptos"/>
              </a:rPr>
              <a:t>Praktis bagi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0B4EA2"/>
                </a:solidFill>
                <a:latin typeface="Aptos"/>
              </a:rPr>
              <a:t>Korporasi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2103120" y="2578608"/>
            <a:ext cx="1810512" cy="804672"/>
          </a:xfrm>
          <a:prstGeom prst="line">
            <a:avLst/>
          </a:prstGeom>
          <a:ln w="15240">
            <a:solidFill>
              <a:srgbClr val="0B4EA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760720" y="2578608"/>
            <a:ext cx="0" cy="201168"/>
          </a:xfrm>
          <a:prstGeom prst="line">
            <a:avLst/>
          </a:prstGeom>
          <a:ln w="15240">
            <a:solidFill>
              <a:srgbClr val="0B4EA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7370064" y="2578608"/>
            <a:ext cx="1865376" cy="804672"/>
          </a:xfrm>
          <a:prstGeom prst="line">
            <a:avLst/>
          </a:prstGeom>
          <a:ln w="15240">
            <a:solidFill>
              <a:srgbClr val="0B4EA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103120" y="3383280"/>
            <a:ext cx="1810512" cy="713232"/>
          </a:xfrm>
          <a:prstGeom prst="line">
            <a:avLst/>
          </a:prstGeom>
          <a:ln w="15240">
            <a:solidFill>
              <a:srgbClr val="0B4EA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760720" y="3986784"/>
            <a:ext cx="0" cy="109728"/>
          </a:xfrm>
          <a:prstGeom prst="line">
            <a:avLst/>
          </a:prstGeom>
          <a:ln w="15240">
            <a:solidFill>
              <a:srgbClr val="0B4EA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 flipV="1">
            <a:off x="7370064" y="3383280"/>
            <a:ext cx="1865376" cy="713232"/>
          </a:xfrm>
          <a:prstGeom prst="line">
            <a:avLst/>
          </a:prstGeom>
          <a:ln w="15240">
            <a:solidFill>
              <a:srgbClr val="0B4EA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1143000" y="5650992"/>
            <a:ext cx="8869680" cy="713232"/>
          </a:xfrm>
          <a:prstGeom prst="roundRect">
            <a:avLst>
              <a:gd name="adj" fmla="val 10000"/>
            </a:avLst>
          </a:prstGeom>
          <a:solidFill>
            <a:srgbClr val="0B4EA2"/>
          </a:solidFill>
          <a:ln w="12700"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0" name="editable-icon-GOAL"/>
          <p:cNvGrpSpPr/>
          <p:nvPr/>
        </p:nvGrpSpPr>
        <p:grpSpPr>
          <a:xfrm>
            <a:off x="1389888" y="5715000"/>
            <a:ext cx="585216" cy="585216"/>
            <a:chOff x="1389888" y="5715000"/>
            <a:chExt cx="585216" cy="585216"/>
          </a:xfrm>
        </p:grpSpPr>
        <p:sp>
          <p:nvSpPr>
            <p:cNvPr id="145" name="Oval 144"/>
            <p:cNvSpPr/>
            <p:nvPr/>
          </p:nvSpPr>
          <p:spPr>
            <a:xfrm>
              <a:off x="1389888" y="5715000"/>
              <a:ext cx="585216" cy="5852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1536192" y="5861304"/>
              <a:ext cx="292608" cy="292608"/>
            </a:xfrm>
            <a:prstGeom prst="ellipse">
              <a:avLst/>
            </a:prstGeom>
            <a:noFill/>
            <a:ln w="17780">
              <a:solidFill>
                <a:srgbClr val="0B4E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1588861" y="5913973"/>
              <a:ext cx="187269" cy="187269"/>
            </a:xfrm>
            <a:prstGeom prst="ellipse">
              <a:avLst/>
            </a:prstGeom>
            <a:noFill/>
            <a:ln w="17780">
              <a:solidFill>
                <a:srgbClr val="0B4E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1641530" y="5966642"/>
              <a:ext cx="81930" cy="81930"/>
            </a:xfrm>
            <a:prstGeom prst="ellipse">
              <a:avLst/>
            </a:prstGeom>
            <a:noFill/>
            <a:ln w="17780">
              <a:solidFill>
                <a:srgbClr val="0B4E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9" name="Connector 148"/>
            <p:cNvCxnSpPr/>
            <p:nvPr/>
          </p:nvCxnSpPr>
          <p:spPr>
            <a:xfrm flipV="1">
              <a:off x="1729313" y="5779373"/>
              <a:ext cx="111191" cy="99487"/>
            </a:xfrm>
            <a:prstGeom prst="line">
              <a:avLst/>
            </a:prstGeom>
            <a:ln w="15240">
              <a:solidFill>
                <a:srgbClr val="0B4E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/>
          <p:cNvSpPr txBox="1"/>
          <p:nvPr/>
        </p:nvSpPr>
        <p:spPr>
          <a:xfrm>
            <a:off x="2542032" y="5788152"/>
            <a:ext cx="6839712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ptos"/>
              </a:rPr>
              <a:t>Arah manfaat: analisis proses -&gt; benchmarking -&gt; keputusan berbasis data -&gt;</a:t>
            </a:r>
          </a:p>
          <a:p>
            <a:pPr algn="ctr">
              <a:spcAft>
                <a:spcPts val="0"/>
              </a:spcAft>
            </a:pPr>
            <a:r>
              <a:rPr sz="1380" b="1">
                <a:solidFill>
                  <a:srgbClr val="FFFFFF"/>
                </a:solidFill>
                <a:latin typeface="Aptos"/>
              </a:rPr>
              <a:t>tata kelola procurement yang lebih akuntabel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